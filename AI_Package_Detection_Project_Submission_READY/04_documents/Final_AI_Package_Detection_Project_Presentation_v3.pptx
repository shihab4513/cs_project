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c48a8c73ef4397" /><Relationship Type="http://schemas.openxmlformats.org/officeDocument/2006/relationships/extended-properties" Target="/docProps/app.xml" Id="R3c44b7babd5a4fe4" /><Relationship Type="http://schemas.openxmlformats.org/officeDocument/2006/relationships/officeDocument" Target="/ppt/presentation.xml" Id="Rb0e9c0372a8f40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9d343c911a40e4"/>
  </p:sldMasterIdLst>
  <p:notesMasterIdLst>
    <p:notesMasterId xmlns:r="http://schemas.openxmlformats.org/officeDocument/2006/relationships" r:id="Re612ef9657f34b6a"/>
  </p:notesMasterIdLst>
  <p:sldIdLst>
    <p:sldId xmlns:r="http://schemas.openxmlformats.org/officeDocument/2006/relationships" id="256" r:id="Ra9cbb658724a4e97"/>
    <p:sldId xmlns:r="http://schemas.openxmlformats.org/officeDocument/2006/relationships" id="257" r:id="R958db2bedc24422c"/>
    <p:sldId xmlns:r="http://schemas.openxmlformats.org/officeDocument/2006/relationships" id="258" r:id="R3f9aed86e7d04963"/>
    <p:sldId xmlns:r="http://schemas.openxmlformats.org/officeDocument/2006/relationships" id="259" r:id="R1415d6d8c2f94b17"/>
    <p:sldId xmlns:r="http://schemas.openxmlformats.org/officeDocument/2006/relationships" id="260" r:id="R00eb341d10734450"/>
    <p:sldId xmlns:r="http://schemas.openxmlformats.org/officeDocument/2006/relationships" id="261" r:id="Rdcd9664830594d4e"/>
    <p:sldId xmlns:r="http://schemas.openxmlformats.org/officeDocument/2006/relationships" id="262" r:id="Re18958cc6a344f3c"/>
    <p:sldId xmlns:r="http://schemas.openxmlformats.org/officeDocument/2006/relationships" id="263" r:id="Rb574bd7934a04b9e"/>
    <p:sldId xmlns:r="http://schemas.openxmlformats.org/officeDocument/2006/relationships" id="264" r:id="R095b42f8b72345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501b83fbce44932" /><Relationship Type="http://schemas.openxmlformats.org/officeDocument/2006/relationships/slideMaster" Target="/ppt/slideMasters/slideMaster1.xml" Id="Rbb9d343c911a40e4" /><Relationship Type="http://schemas.openxmlformats.org/officeDocument/2006/relationships/notesMaster" Target="/ppt/notesMasters/notesMaster1.xml" Id="Re612ef9657f34b6a" /><Relationship Type="http://schemas.openxmlformats.org/officeDocument/2006/relationships/presProps" Target="/ppt/presProps.xml" Id="Rf8f53d9b447e4e67" /><Relationship Type="http://schemas.openxmlformats.org/officeDocument/2006/relationships/tableStyles" Target="/ppt/tableStyles.xml" Id="R3c0bdade90a842d4" /><Relationship Type="http://schemas.openxmlformats.org/officeDocument/2006/relationships/slide" Target="/ppt/slides/slide1.xml" Id="Ra9cbb658724a4e97" /><Relationship Type="http://schemas.openxmlformats.org/officeDocument/2006/relationships/slide" Target="/ppt/slides/slide2.xml" Id="R958db2bedc24422c" /><Relationship Type="http://schemas.openxmlformats.org/officeDocument/2006/relationships/slide" Target="/ppt/slides/slide3.xml" Id="R3f9aed86e7d04963" /><Relationship Type="http://schemas.openxmlformats.org/officeDocument/2006/relationships/slide" Target="/ppt/slides/slide4.xml" Id="R1415d6d8c2f94b17" /><Relationship Type="http://schemas.openxmlformats.org/officeDocument/2006/relationships/slide" Target="/ppt/slides/slide5.xml" Id="R00eb341d10734450" /><Relationship Type="http://schemas.openxmlformats.org/officeDocument/2006/relationships/slide" Target="/ppt/slides/slide6.xml" Id="Rdcd9664830594d4e" /><Relationship Type="http://schemas.openxmlformats.org/officeDocument/2006/relationships/slide" Target="/ppt/slides/slide7.xml" Id="Re18958cc6a344f3c" /><Relationship Type="http://schemas.openxmlformats.org/officeDocument/2006/relationships/slide" Target="/ppt/slides/slide8.xml" Id="Rb574bd7934a04b9e" /><Relationship Type="http://schemas.openxmlformats.org/officeDocument/2006/relationships/slide" Target="/ppt/slides/slide9.xml" Id="R095b42f8b72345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d2c189dc4146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4754e67bfe4907" /><Relationship Type="http://schemas.openxmlformats.org/officeDocument/2006/relationships/notesMaster" Target="/ppt/notesMasters/notesMaster1.xml" Id="R99d79404668c44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581ea72bf1473e" /><Relationship Type="http://schemas.openxmlformats.org/officeDocument/2006/relationships/notesMaster" Target="/ppt/notesMasters/notesMaster1.xml" Id="Ra1d42450c0064b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0816f2862d44963" /><Relationship Type="http://schemas.openxmlformats.org/officeDocument/2006/relationships/notesMaster" Target="/ppt/notesMasters/notesMaster1.xml" Id="Re7ab0a4ace884e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9e872f16de4bb7" /><Relationship Type="http://schemas.openxmlformats.org/officeDocument/2006/relationships/notesMaster" Target="/ppt/notesMasters/notesMaster1.xml" Id="Rd85e7ca218e04a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fad5c0ccb7480c" /><Relationship Type="http://schemas.openxmlformats.org/officeDocument/2006/relationships/notesMaster" Target="/ppt/notesMasters/notesMaster1.xml" Id="R03826ec1d5d642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3fceafff394510" /><Relationship Type="http://schemas.openxmlformats.org/officeDocument/2006/relationships/notesMaster" Target="/ppt/notesMasters/notesMaster1.xml" Id="Rc0791cab60c146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92c66fa9a843a2" /><Relationship Type="http://schemas.openxmlformats.org/officeDocument/2006/relationships/notesMaster" Target="/ppt/notesMasters/notesMaster1.xml" Id="R34a8631b4f504c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1afe808a814776" /><Relationship Type="http://schemas.openxmlformats.org/officeDocument/2006/relationships/notesMaster" Target="/ppt/notesMasters/notesMaster1.xml" Id="Raffda11fc70740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f1ca28bffbe4605" /><Relationship Type="http://schemas.openxmlformats.org/officeDocument/2006/relationships/notesMaster" Target="/ppt/notesMasters/notesMaster1.xml" Id="R8b7e4267f9a446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topic and verified implementation. Results and files included in AI_Package_Detection_Project_Submission_READY.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Objectives derived from the revised project proposal and supervisor feedback. The project does not claim that hybrid detection itself is novel.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Method files: run_project.py; evaluate_static_transfer.py; scan_source.py; convert_strace.py; fuse_source_trace.py; src/triage.py; run_bundled_llm_reviews.py.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 and code: 01_code/notebooks/RUN_ALL_IN_ONE_LLM_COLAB.ipynb; 01_code/run_project.py; 01_code/evaluate_static_transfer.py. Dataset: 03_dataset/Labelled_Dataset.csv.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02_results/01_static_baseline_and_transfer/content/outputs/paper_baseline/static/static_metrics.json and static_transfer_metrics.json. XGBoost random split metrics and leave-one-ecosystem-out XGBoost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02_results/02_vm_traces_and_fusion/requests_evidence/new_package_evidence_report.json; lodash_evidence/new_package_evidence_report.json; 02_results/03_llm_reviews/*.json. The safe traces do not establish malicious-package detection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Limitations recorded in RESEARCH_PROTOCOL.md, evidence reports, and both LLM review files. They should be stated verbally instead of presenting results as production guarantees.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Two-week improvement plan based on the identified gaps: generalization, evidence coverage, workload metrics, and accountable LLM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 location: 01_code and included all-in-one Colab ZIP. Before presenting, the student should publish 01_code to a GitHub repository or share the Colab notebook and paste the resulting URL in the orange panel.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864e6fbda047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04f9253bcf4033" /><Relationship Type="http://schemas.openxmlformats.org/officeDocument/2006/relationships/slideLayout" Target="/ppt/slideLayouts/slideLayout1.xml" Id="Rc20bfe27c85442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0bfe27c85442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611210b384118" /><Relationship Type="http://schemas.openxmlformats.org/officeDocument/2006/relationships/notesSlide" Target="/ppt/notesSlides/notesSlide1.xml" Id="R9f8a1c9ffce348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b30e6b0694e7d" /><Relationship Type="http://schemas.openxmlformats.org/officeDocument/2006/relationships/notesSlide" Target="/ppt/notesSlides/notesSlide2.xml" Id="R162bc8478acd49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32048308b4fdf" /><Relationship Type="http://schemas.openxmlformats.org/officeDocument/2006/relationships/notesSlide" Target="/ppt/notesSlides/notesSlide3.xml" Id="Re178cdb6517243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f698295c014cbb" /><Relationship Type="http://schemas.openxmlformats.org/officeDocument/2006/relationships/notesSlide" Target="/ppt/notesSlides/notesSlide4.xml" Id="R848292990c164a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6de6f39267429d" /><Relationship Type="http://schemas.openxmlformats.org/officeDocument/2006/relationships/notesSlide" Target="/ppt/notesSlides/notesSlide5.xml" Id="R9f0ff1314fa3458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e49c2293b4ce4" /><Relationship Type="http://schemas.openxmlformats.org/officeDocument/2006/relationships/notesSlide" Target="/ppt/notesSlides/notesSlide6.xml" Id="Reda04901a1c247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470a2bb22451b" /><Relationship Type="http://schemas.openxmlformats.org/officeDocument/2006/relationships/notesSlide" Target="/ppt/notesSlides/notesSlide7.xml" Id="R5c80de9181414ff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ea974d0f2e4481" /><Relationship Type="http://schemas.openxmlformats.org/officeDocument/2006/relationships/notesSlide" Target="/ppt/notesSlides/notesSlide8.xml" Id="R04dfb77f99944e5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52c7fbf32641b8" /><Relationship Type="http://schemas.openxmlformats.org/officeDocument/2006/relationships/notesSlide" Target="/ppt/notesSlides/notesSlide9.xml" Id="R40fca5a1afa342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332B7-4BAF-41DA-A458-5D693575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59BBC-5DBB-4163-9F18-AB822D97B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6572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901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AI Based Detection of</a:t>
            </a:r>
          </a:p>
          <a:p xmlns:a="http://schemas.openxmlformats.org/drawingml/2006/main">
            <a:pPr algn="l">
              <a:defRPr sz="32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Malicious Open Source Packages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458448-FC4D-4E16-A2AB-2D3DA1BF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752725"/>
            <a:ext cx="657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498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2E8B86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E8B86"/>
                </a:solidFill>
                <a:latin typeface="Arial"/>
                <a:ea typeface="Arial"/>
                <a:cs typeface="Arial"/>
              </a:rPr>
              <a:t>Static evidence, isolated dynamic traces, and bounded LLM review for npm and PyPI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77E64-9893-44DD-BCDE-F49952D22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5433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Final project presentation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6B53C-FA04-431D-817A-D75F7ACF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14775"/>
            <a:ext cx="62579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project evaluates cross-ecosystem generalization and uses evidence-aware triage when static, dynamic, and LLM evidence remain uncertain.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7E70A6-0067-4352-A974-90153ADF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8F55BB-45E0-43CE-AFAD-70604DB1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669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VM TRACE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45609-FCAD-4748-8B8D-ED6D4152F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14650"/>
            <a:ext cx="2571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B2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LLM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B1E662-A530-4F78-9EFA-1891C289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2857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Transparent triage actions preserve uncertainty and send ambiguous cases to human review.</a:t>
            </a:r>
          </a:p>
        </p:txBody>
      </p:sp>
    </p:spTree>
    <p:extLst>
      <p:ext uri="{BB962C8B-B14F-4D97-AF65-F5344CB8AC3E}">
        <p14:creationId xmlns:p14="http://schemas.microsoft.com/office/powerpoint/2010/main" val="16138439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B03F9-9BB9-41B2-98D0-3DA58E81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D0D029-D956-4620-B989-A932F9A2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0CC45-AA72-4BD3-A862-5EDB0BE9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project focuses on measurement, evidence provenance, and safe triage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0EEE2E-4519-4A53-89A4-6B42EE87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E615B4-8B5E-4213-822D-971C6342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C149CE-29FD-48BD-9C11-11BDEA53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859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68C77F-A3FE-496C-8D07-6E8750F1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4763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Cross ecosystem baseline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65041-6E01-49C9-AB00-A0668F40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811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Train a static XGBoost classifier on the released npm and PyPI feature dataset and report per-ecosystem performance.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A5751F-58A5-4709-818D-A89287A0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D1ABE-BED0-48CD-BD28-99D4B2343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431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Transfer evaluation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BEBF0-6F95-429C-A970-EFA6EDF3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479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Measure NPM to PyPI and PyPI to NPM performance instead of relying only on a mixed random split.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B4420-9A44-45C9-85D8-77B440C7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D6E9C-337F-4FC7-97F5-48A4044FC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09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Evidence aware review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1264EF-2EDE-4807-83D8-ED9E68A7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9147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Combine read-only source signals and safe VM telemetry into an auditable triage action.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BF9CD-088D-4BF0-B328-A51DED56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ACDCBA-B8DA-4954-BEAC-DB0342E9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6767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Bounded LLM assistance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8AADD5-820C-44B4-A4FA-AD4B2333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81575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Use a local Qwen model to explain supplied evidence without allowing it to replace the triage policy.</a:t>
            </a:r>
          </a:p>
        </p:txBody>
      </p:sp>
    </p:spTree>
    <p:extLst>
      <p:ext uri="{BB962C8B-B14F-4D97-AF65-F5344CB8AC3E}">
        <p14:creationId xmlns:p14="http://schemas.microsoft.com/office/powerpoint/2010/main" val="19453976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48BD7E-89B1-4D57-8384-29BAD81D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E3E416-7AA4-4C73-BA1C-65F1FA5F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E79CD5-BF19-4620-BF19-37A7DD7D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Evidence moves through a controlled pipeline with explicit safety boundaries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1F669-6ACE-4031-83C1-5558ABFD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C4FB0-B7D3-4DBA-83F9-2EF7282BF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A3E3AB-9512-430A-9947-DBE8E0A89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7678D8-5A60-493C-AB6C-A295F1956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Released dataset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BBD6D-842F-4C10-84D2-1052BB62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1,940 labelled records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140 numeric static features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 and PyPI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A1D92A-B096-402E-8B1F-335B33AB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2E6E0-0E42-4FFB-9901-91E8DB42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Static 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2216BF-44CF-47A0-AC52-26444E46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XGBoost baseline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random split plus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directional transfer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92095D-9BD0-40C2-A2B8-A54A0212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E3E13A-BC26-4080-A764-ED41BED75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092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Read only source scan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FF39F-CE5B-42FB-86E2-C607EC1E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Inspect unpacked code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 import, install,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or execution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6C3AD-265C-47DD-95EE-C9D620B3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FBE08A-3148-4098-A8F4-C9C28B0D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Isolated VM trace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7249D1-5A44-4554-9F30-1BA4A7CC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Linux Mint strace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known benign packages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26C04A-44BD-401D-B070-00102937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600200"/>
            <a:ext cx="342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31D8C-91A5-49D9-AE72-B682C5C5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124075"/>
            <a:ext cx="19431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74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Triage and LLM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07B5D4-C2AA-48C8-B77C-12DA8548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2543175"/>
            <a:ext cx="19431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Auditable action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LLM explains bounded</a:t>
            </a:r>
          </a:p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0D9EE-B5E9-46C6-93DC-EBF7FB1B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867275"/>
            <a:ext cx="10448925" cy="504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Final record: package version, static evidence, trace provenance, dynamic evidence, triage action, and LLM explanation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B7588-02DF-4116-B56E-F0614F70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667375"/>
            <a:ext cx="9601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Safety: the Windows and Colab code do not execute packages. Dynamic traces come only from a disposable Linux Mint VM.</a:t>
            </a:r>
          </a:p>
        </p:txBody>
      </p:sp>
    </p:spTree>
    <p:extLst>
      <p:ext uri="{BB962C8B-B14F-4D97-AF65-F5344CB8AC3E}">
        <p14:creationId xmlns:p14="http://schemas.microsoft.com/office/powerpoint/2010/main" val="2491338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6047A3-8C13-4FAD-AEE9-F95052262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FBD18-EA18-446E-9EA2-3F165F79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Experimental Core Details from Notebook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4345B-AA3A-47C0-A173-8AE55ACE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notebook uses the released base-paper CSV and fixed, reproducible settings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169D17-4224-435C-9041-3B6766C90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599EFC-9E61-4D14-9D65-5500782D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3D90B-68AD-4921-ADD0-F84F5BEFC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Notebook component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F5A888-4084-4B20-AB7D-F8E8D580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7637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Implementation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7615C-F856-4F6C-A7FE-7BAA7042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763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B457F-E5B9-49FC-886C-3AD5A6A6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8122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Static baseline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114FEA-9529-47E3-B9FC-9FEE0E66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812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1,940 rows, 140 numeric features, stratified 80/20 split, random state 42, XGBoost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C2CDD7-F2FE-4F19-A40D-B158B1AD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812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static_metrics.json and confusion matrix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F5033-4B30-4C2E-BB01-98B5F6279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8607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Transfer 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A84A01-7ACF-42F9-98B1-ED30DE22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8607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Train on NPM and test on PyPI, then reverse the direction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763F4-AB8C-4220-BB29-238E3870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860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static_transfer_metrics.json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E6BDC9-32A3-4086-915E-30FF49E8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9092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VM trace import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EA316F-A0AB-4460-A458-F590CD2C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909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Convert existing Linux strace logs without running the package again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577302-B759-4202-9E19-F41767E9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909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requests and lodash trace 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83345-A1C8-4229-8FAC-1F9E2FD0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9577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Evidence fusion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B0498-3487-45BC-81B6-A660130C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9577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Read-only source heuristic plus imported dynamic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230EE7-1A76-410E-8E9B-6AFEEE6B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9577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new_package_evidence_report.json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68BA47-6E29-48A7-A49E-2F499764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00625"/>
            <a:ext cx="228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Local LLM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B71E9-A285-417E-B657-E070DC23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00625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Qwen2.5 1.5B Instruct in Colab, no API key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DBDEA4-D876-4555-88E6-545D1B8A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00625"/>
            <a:ext cx="3143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two bounded review JSON files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753D92-9717-4338-80F5-17134DE9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857875"/>
            <a:ext cx="9886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E3B9A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Important distinction: the 140-feature XGBoost probability and the read-only source scanner heuristic are separate measures.</a:t>
            </a:r>
          </a:p>
        </p:txBody>
      </p:sp>
    </p:spTree>
    <p:extLst>
      <p:ext uri="{BB962C8B-B14F-4D97-AF65-F5344CB8AC3E}">
        <p14:creationId xmlns:p14="http://schemas.microsoft.com/office/powerpoint/2010/main" val="7501933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ABC1DAE-292D-4405-A28E-8D06C5D7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3889F-905C-4D3E-A645-54FA5E27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0D0DD-A605-4C31-B9F0-DAA96747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combined random split is strong, while transfer between ecosystems loses substantial F1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36D754-9213-4CCC-94F0-1B2DAB283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5A5683-56C1-4628-9083-D1444DDD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557D50-49E3-4457-BA72-4E606EAE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287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Experiment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125A2-0420-44EC-B0B9-6C9581B3A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428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60C425-6A77-451E-9F39-9FCA5203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28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4FE31A-97DC-48A1-90E9-937C1A14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28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C1F514-51DF-49F6-ABCA-D50BD5E0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4287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4B58B-73A7-4430-B600-B61261B2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53AD56-4EAF-4AB2-AE89-4F712E85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812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XGBoost random split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D0EA3-FE45-498A-A75D-840A5F93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981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0.9691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D5D561-66D0-4BA5-9E6A-1B47EF8F4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981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0.9091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A4D0A-CBA1-41F2-BA4E-D46A9DF39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81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0.7692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3CD45E-B4B3-4794-BCD3-212B3BDBF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812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0.8333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9EF2D2-9FCD-4CD4-A14A-48C2A292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0.9802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4BEE0-3C3E-4625-8658-758852C1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3365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 only test subset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1D976-CC67-46FD-B896-2066691D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33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0.9784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5AAC44-B763-49B3-8F3B-8ABBC5B7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33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0.9286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B68A9-CEE8-4559-B9FA-0C13E61B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33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0.8125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9A4384-7ECF-45CF-9733-50AD45E2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3365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0.8667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CA0197-6653-45DA-9E40-108B7F1D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0.9952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B1D5C0-69C0-4F60-9B15-DD4518FD4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86100"/>
            <a:ext cx="2571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 only test subset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53791B-95B8-4299-B10A-C54769D6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086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0.9606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D93709-6FB4-4D10-8D27-028E1748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86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0.8947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A5255F-C9BB-4355-9EA4-193C100D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86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0.7391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0B64F3-4989-4FF9-911D-148254E5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86100"/>
            <a:ext cx="1381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0.8095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F66753-9815-4510-BE2A-D5AF9444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0.9703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CDFD59-3A86-4175-B4E5-4DF96A64D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576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Training ecosystem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E1877B-38FC-4BFB-8864-7478E31D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8576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Test ecosystem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EE0C66-9CA0-4BFC-9B4A-EE2D8E77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8576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476552F-FE6D-450D-869E-09029D3E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576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ROC AUC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4FDD98-C74C-4AAB-A8A9-DEF8E4C0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857625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68763A-FF22-4C90-940D-AE953ADE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910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991935-DE26-4C0D-9EB2-9D4E3421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910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1085D6-7E07-4EDE-90B6-740B0CFC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3910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0.4962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0E17D9-6203-4ACE-BF84-0F4B14FD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3910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0.7354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67354F-2DAE-4868-AD87-40AFD561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91025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Transfer performance drops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39ABCA1-A9C6-4CAE-8B27-57FE8686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244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PyPI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B325929-45F1-4410-9F1B-20E55BAA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24425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NPM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545AEB-45EC-4E4A-AE0B-57C096C5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9244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0.2892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009659-BD60-4B6B-93BB-006125AB5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24425"/>
            <a:ext cx="1381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0.7893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7FEB58-34F7-49BF-BAF3-6A7DA9877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924425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Reverse transfer drops further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7FA5D72-20AA-43FC-B5F1-EC4830A7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8165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5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Main finding: a high random-split score does not demonstrate reliable static generalization across both package ecosystems.</a:t>
            </a:r>
          </a:p>
        </p:txBody>
      </p:sp>
    </p:spTree>
    <p:extLst>
      <p:ext uri="{BB962C8B-B14F-4D97-AF65-F5344CB8AC3E}">
        <p14:creationId xmlns:p14="http://schemas.microsoft.com/office/powerpoint/2010/main" val="3919614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06377-F109-437C-A0D5-9CF06EB3B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876565-2333-409C-B749-F5C441F4F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Evidence and Triage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2989C8-7162-455B-A9A3-1A92A3B2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Two known benign packages demonstrate the value of contextual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C32AF-253D-455D-9ACB-37D2715A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882236-739B-4A5F-9B5D-90BA23A82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6C05F-3DF5-4414-A306-1713B466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Package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567B57-E5D7-46AB-8629-56372F1C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76375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Static heuristic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CF0FB8-AA72-45AE-B08E-E20F548E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76375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Dynamic score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6A1819-3447-44DD-A8AA-991E09980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76375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Fused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9066C-01AA-4A1E-BD0C-8E1E6C8B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76375"/>
            <a:ext cx="319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Triage 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203CE7-4219-4E29-A376-EAFF60DB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requests 2.32.3 PyPI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EB459-DDED-4227-BEC6-7409EBF0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143125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ECD9F9-56D7-49ED-AD46-987E87CD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43125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0.25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0A16A-99BF-4F63-BDD9-340A0A27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43125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0.325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E0A84E-6C54-4059-AE7C-4AD16336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43125"/>
            <a:ext cx="319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Human review for ambiguous fused risk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15AE67-F731-46EC-B49A-A7ACFFC3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lodash 4.17.21 NPM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5288B-B64A-459E-B5B5-A4279A23A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809875"/>
            <a:ext cx="1762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0.22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C9649F-24E6-4175-8D31-E20C7196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09875"/>
            <a:ext cx="1524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0.08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19D9D-B727-462D-822E-CCF8C0B3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13811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0.150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60C567-DE2A-4C57-8F85-4EA51819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09875"/>
            <a:ext cx="3190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Record multimodal low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05C328-CE8E-4A65-99F6-70DE520C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5282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requests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F75B6D-FB8C-4B8B-A172-23457640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90975"/>
            <a:ext cx="45243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controlled experiment intentionally made an HTTPS request. Network activity is expected for an HTTP client, so the policy sends it to review instead of blocking 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783EB8-61FF-44CF-9828-9588BBD7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552825"/>
            <a:ext cx="1428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lodash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00DAA5-EB93-4A03-9C3B-FAD84D3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90975"/>
            <a:ext cx="45243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No traced network connection or install hook appeared in the tested path. The LLM remained conservative, so its explanation does not override the low-risk triage action.</a:t>
            </a:r>
          </a:p>
        </p:txBody>
      </p:sp>
    </p:spTree>
    <p:extLst>
      <p:ext uri="{BB962C8B-B14F-4D97-AF65-F5344CB8AC3E}">
        <p14:creationId xmlns:p14="http://schemas.microsoft.com/office/powerpoint/2010/main" val="10358712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0669FC-BDC2-4F04-A9A2-CE0C6C75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FFB94-53F0-492F-A5C5-485A49CC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47C6C-A1FE-45DD-96A2-DE6619159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prototype makes conservative claims and keeps decision uncertainty visible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808CB7-F4D4-4B6E-9AD0-4D3BBF56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DD604-05E8-4898-8660-BA61D330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00B53-F1F9-4032-9D2F-A9D74AFB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001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Limited dynamic coverage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CC0621-5787-4BA0-BF0B-45E0EE0D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71600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Only known benign requests and lodash packages were traced. The experiment validates workflow, not malicious-package detection accuracy.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FD8076-71A2-419E-BDD9-3FA5A605D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Trace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920D6A-0B2C-4545-9D98-3F1D1AB4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38375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clean trace cannot rule out delayed, environment-gated, dependency-driven, or untested behavior.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F9990-558A-4DF6-9554-D9CED6A8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372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Heuristic source scan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FDA7BA-183F-4472-9DFC-5E65EC6D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05150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Simple static rules create false positives for legitimate network, packaging, and compatibility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D427FC-B18A-40CF-AE47-F1E45F70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LLM reliability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CC3D31-059D-4AF8-9C80-2B0328385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71925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Qwen provides reviewer assistance without a measured accuracy claim. Its medium lodash assessment shows why it cannot override triage.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471BB-609C-46F1-BA89-8D8A3A6A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67275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Evaluation scope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585C0-6F57-4143-AA6B-B113667B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38700"/>
            <a:ext cx="7286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Dataset split and transfer scores support research comparison, not a production deployment claim.</a:t>
            </a:r>
          </a:p>
        </p:txBody>
      </p:sp>
    </p:spTree>
    <p:extLst>
      <p:ext uri="{BB962C8B-B14F-4D97-AF65-F5344CB8AC3E}">
        <p14:creationId xmlns:p14="http://schemas.microsoft.com/office/powerpoint/2010/main" val="268685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8BB25D-8524-42E0-A948-E1EC447F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0B146B-C354-43AB-98C8-1EC5BBDD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Scope of Improvements Within Two Weeks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16D95-9976-4A21-8ABC-9E691EE76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next iteration will increase evidence coverage and make the evaluation more realistic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52009-303C-4854-8A91-47BB7410D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6E941B-047B-4367-82A2-A39E6FD7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BF9E19-BD34-4DB1-9CFB-43D34746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1 to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FF13A8-8416-4900-8702-75E71C51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85900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Collect safe, version-pinned traces for at least 10 known benign npm and PyPI packages in the isolated VM. Record trace duration and package version.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C2FCFF-43C8-4F3C-BBCF-F200B195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8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5 to 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A2A1EE-CB7E-4A18-AB4F-DB3278D4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43175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Add trace-derived features such as process count, outbound connection count, sensitive-path access, and installation-hook presence. Compare static-only and triage metrics.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EB1E46-7CD3-4101-9A12-E1C968EE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9 to 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52E978-9EE5-4073-8AA3-A122B08A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600450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Run time-aware or campaign-aware splits where available. Report per-ecosystem referral rate, missing trace rate, and review workload.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3DC5DD-E72A-4B1F-8AC9-D77742EC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76775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4A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Days 12 to 14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A4BFF-2F23-4D41-BE59-AB9D3BD2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657725"/>
            <a:ext cx="7620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Improve the bounded LLM prompt with evidence citations and a required false-positive section. Review outputs manually against the triage decision.</a:t>
            </a:r>
          </a:p>
        </p:txBody>
      </p:sp>
    </p:spTree>
    <p:extLst>
      <p:ext uri="{BB962C8B-B14F-4D97-AF65-F5344CB8AC3E}">
        <p14:creationId xmlns:p14="http://schemas.microsoft.com/office/powerpoint/2010/main" val="7248827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D0560-17E7-43EC-AAB7-99D6BA43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34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5AF7AE-2782-4348-8B01-C43AF2460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00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Source Code and Colab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0974C4-D1DF-4063-A804-127FA62C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95350"/>
            <a:ext cx="9906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The submission contains the runnable code and the all-in-one Colab bundle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45EB6-CEBB-4CDC-A9FB-0789CA43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4476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2774AE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774A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95067-E3CA-490B-B25E-9CB8F715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695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667"/>
          </a:bodyPr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D6974"/>
                </a:solidFill>
                <a:latin typeface="Arial"/>
                <a:ea typeface="Arial"/>
                <a:cs typeface="Arial"/>
              </a:defRPr>
            </a:pPr>
            <a:r>
              <a:rPr sz="750" b="0" i="0">
                <a:solidFill>
                  <a:srgbClr val="5D6974"/>
                </a:solidFill>
                <a:latin typeface="Arial"/>
                <a:ea typeface="Arial"/>
                <a:cs typeface="Arial"/>
              </a:rPr>
              <a:t>AI Based Detection of Malicious Open Source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EED3E9-2B45-4027-AECA-2CE28149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668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Included source 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EC26C5-E587-4C44-9BA1-B491AD1B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09775"/>
            <a:ext cx="771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01_code/ contains every Python module, test, and notebook</a:t>
            </a:r>
          </a:p>
          <a:p xmlns:a="http://schemas.openxmlformats.org/drawingml/2006/main"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01_code/notebooks/RUN_ALL_IN_ONE_LLM_COLAB.ipynb runs both LLM reviews</a:t>
            </a:r>
          </a:p>
          <a:p xmlns:a="http://schemas.openxmlformats.org/drawingml/2006/main"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01_code/ai_package_detection_ALL_IN_ONE_COLAB.zip is the single-file Colab bundle</a:t>
            </a:r>
          </a:p>
          <a:p xmlns:a="http://schemas.openxmlformats.org/drawingml/2006/main">
            <a:pPr marL="228600" indent="-101600" algn="l">
              <a:spcAft>
                <a:spcPts val="900"/>
              </a:spcAft>
              <a:buChar char="•"/>
              <a:defRPr sz="13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03_dataset/Labelled_Dataset.csv is the released static-feature dataset 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39266-F5DB-4EBE-9011-D0F3AE9C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66850"/>
            <a:ext cx="2238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C95B2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95B2B"/>
                </a:solidFill>
                <a:latin typeface="Arial"/>
                <a:ea typeface="Arial"/>
                <a:cs typeface="Arial"/>
              </a:rPr>
              <a:t>Link for presentation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9A1C6-66F6-4457-B446-612E7717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981200"/>
            <a:ext cx="2362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F0"/>
          </a:solidFill>
          <a:ln xmlns:a="http://schemas.openxmlformats.org/drawingml/2006/main" w="9525">
            <a:solidFill>
              <a:srgbClr val="E3B9A4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Paste your GitHub repository or shared Google Colab URL here before presenting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21301-A5DE-46CF-9F78-4CC17E3C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71850"/>
            <a:ext cx="2362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16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Why no fixed public URL appears here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0D7A8-6FA7-40E5-AF26-6332114B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733800"/>
            <a:ext cx="23622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valid URL requires your own GitHub account or Colab share setting. The runnable files are already included in the submission folder.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D843E-5E9A-4BB8-B8DB-864D84CC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143500"/>
            <a:ext cx="99060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5F8"/>
          </a:solidFill>
          <a:ln xmlns:a="http://schemas.openxmlformats.org/drawingml/2006/main" w="9525">
            <a:solidFill>
              <a:srgbClr val="D3DEE5"/>
            </a:solidFill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33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2334A"/>
                </a:solidFill>
                <a:latin typeface="Arial"/>
                <a:ea typeface="Arial"/>
                <a:cs typeface="Arial"/>
              </a:rPr>
              <a:t>Colab workflow: upload the all-in-one ZIP, extract it, install requirements-colab-llm.txt, then run run_bundled_llm_reviews.py.</a:t>
            </a:r>
          </a:p>
        </p:txBody>
      </p:sp>
    </p:spTree>
    <p:extLst>
      <p:ext uri="{BB962C8B-B14F-4D97-AF65-F5344CB8AC3E}">
        <p14:creationId xmlns:p14="http://schemas.microsoft.com/office/powerpoint/2010/main" val="1861561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2026-09-18T15:40:59.7730000Z</dcterms:created>
  <dcterms:modified xsi:type="dcterms:W3CDTF">2026-09-18T15:40:59.7730000Z</dcterms:modified>
</coreProperties>
</file>