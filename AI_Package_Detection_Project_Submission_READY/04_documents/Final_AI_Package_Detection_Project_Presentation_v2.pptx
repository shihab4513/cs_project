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bd4bfd10434a5c" /><Relationship Type="http://schemas.openxmlformats.org/officeDocument/2006/relationships/extended-properties" Target="/docProps/app.xml" Id="R9b56d4edacd943e2" /><Relationship Type="http://schemas.openxmlformats.org/officeDocument/2006/relationships/officeDocument" Target="/ppt/presentation.xml" Id="Re8dd4efac5ce4e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1265cf2fda4e7b"/>
  </p:sldMasterIdLst>
  <p:notesMasterIdLst>
    <p:notesMasterId xmlns:r="http://schemas.openxmlformats.org/officeDocument/2006/relationships" r:id="Ra8015bb674284b72"/>
  </p:notesMasterIdLst>
  <p:sldIdLst>
    <p:sldId xmlns:r="http://schemas.openxmlformats.org/officeDocument/2006/relationships" id="256" r:id="R3d1cffa03ab644be"/>
    <p:sldId xmlns:r="http://schemas.openxmlformats.org/officeDocument/2006/relationships" id="257" r:id="R99673fb9727641ff"/>
    <p:sldId xmlns:r="http://schemas.openxmlformats.org/officeDocument/2006/relationships" id="258" r:id="Rcdf0b44127d74a90"/>
    <p:sldId xmlns:r="http://schemas.openxmlformats.org/officeDocument/2006/relationships" id="259" r:id="Rb569afdfca224722"/>
    <p:sldId xmlns:r="http://schemas.openxmlformats.org/officeDocument/2006/relationships" id="260" r:id="R54059ac065bc4f9b"/>
    <p:sldId xmlns:r="http://schemas.openxmlformats.org/officeDocument/2006/relationships" id="261" r:id="R6c1c2c88391a486e"/>
    <p:sldId xmlns:r="http://schemas.openxmlformats.org/officeDocument/2006/relationships" id="262" r:id="Rc5a1a3b796554614"/>
    <p:sldId xmlns:r="http://schemas.openxmlformats.org/officeDocument/2006/relationships" id="263" r:id="R598f8901ee83451c"/>
    <p:sldId xmlns:r="http://schemas.openxmlformats.org/officeDocument/2006/relationships" id="264" r:id="Rdddfd752c93646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9d74a5c5434681" /><Relationship Type="http://schemas.openxmlformats.org/officeDocument/2006/relationships/slideMaster" Target="/ppt/slideMasters/slideMaster1.xml" Id="R5e1265cf2fda4e7b" /><Relationship Type="http://schemas.openxmlformats.org/officeDocument/2006/relationships/notesMaster" Target="/ppt/notesMasters/notesMaster1.xml" Id="Ra8015bb674284b72" /><Relationship Type="http://schemas.openxmlformats.org/officeDocument/2006/relationships/presProps" Target="/ppt/presProps.xml" Id="Reca1fc31b23945b7" /><Relationship Type="http://schemas.openxmlformats.org/officeDocument/2006/relationships/tableStyles" Target="/ppt/tableStyles.xml" Id="Re5c7e909d8434335" /><Relationship Type="http://schemas.openxmlformats.org/officeDocument/2006/relationships/slide" Target="/ppt/slides/slide1.xml" Id="R3d1cffa03ab644be" /><Relationship Type="http://schemas.openxmlformats.org/officeDocument/2006/relationships/slide" Target="/ppt/slides/slide2.xml" Id="R99673fb9727641ff" /><Relationship Type="http://schemas.openxmlformats.org/officeDocument/2006/relationships/slide" Target="/ppt/slides/slide3.xml" Id="Rcdf0b44127d74a90" /><Relationship Type="http://schemas.openxmlformats.org/officeDocument/2006/relationships/slide" Target="/ppt/slides/slide4.xml" Id="Rb569afdfca224722" /><Relationship Type="http://schemas.openxmlformats.org/officeDocument/2006/relationships/slide" Target="/ppt/slides/slide5.xml" Id="R54059ac065bc4f9b" /><Relationship Type="http://schemas.openxmlformats.org/officeDocument/2006/relationships/slide" Target="/ppt/slides/slide6.xml" Id="R6c1c2c88391a486e" /><Relationship Type="http://schemas.openxmlformats.org/officeDocument/2006/relationships/slide" Target="/ppt/slides/slide7.xml" Id="Rc5a1a3b796554614" /><Relationship Type="http://schemas.openxmlformats.org/officeDocument/2006/relationships/slide" Target="/ppt/slides/slide8.xml" Id="R598f8901ee83451c" /><Relationship Type="http://schemas.openxmlformats.org/officeDocument/2006/relationships/slide" Target="/ppt/slides/slide9.xml" Id="Rdddfd752c93646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e8ea96fd444f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a9a47b87b84b83" /><Relationship Type="http://schemas.openxmlformats.org/officeDocument/2006/relationships/notesMaster" Target="/ppt/notesMasters/notesMaster1.xml" Id="R462561ebe1f845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389ea5fcde4ed5" /><Relationship Type="http://schemas.openxmlformats.org/officeDocument/2006/relationships/notesMaster" Target="/ppt/notesMasters/notesMaster1.xml" Id="R7db12f7795934a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ec7a4f107c44e6" /><Relationship Type="http://schemas.openxmlformats.org/officeDocument/2006/relationships/notesMaster" Target="/ppt/notesMasters/notesMaster1.xml" Id="R02237147c6d141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76ef5169a0456c" /><Relationship Type="http://schemas.openxmlformats.org/officeDocument/2006/relationships/notesMaster" Target="/ppt/notesMasters/notesMaster1.xml" Id="R398f81fe8d6142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1c1bf2a71a4417" /><Relationship Type="http://schemas.openxmlformats.org/officeDocument/2006/relationships/notesMaster" Target="/ppt/notesMasters/notesMaster1.xml" Id="Rd7ad5a5c568442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c83b2a13324524" /><Relationship Type="http://schemas.openxmlformats.org/officeDocument/2006/relationships/notesMaster" Target="/ppt/notesMasters/notesMaster1.xml" Id="R1258374be21048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8c2a9df97241c4" /><Relationship Type="http://schemas.openxmlformats.org/officeDocument/2006/relationships/notesMaster" Target="/ppt/notesMasters/notesMaster1.xml" Id="R2cafa9a34ed540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1dbb10485942c1" /><Relationship Type="http://schemas.openxmlformats.org/officeDocument/2006/relationships/notesMaster" Target="/ppt/notesMasters/notesMaster1.xml" Id="Ra9d4d1bd552d47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2593e91ce44ccb" /><Relationship Type="http://schemas.openxmlformats.org/officeDocument/2006/relationships/notesMaster" Target="/ppt/notesMasters/notesMaster1.xml" Id="Rf89b0935f1df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topic and verified implementation. Results and files included in AI_Package_Detection_Project_Submission_READY.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derived from the revised project proposal and supervisor feedback. The project does not claim that hybrid detection itself is novel.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files: run_project.py; evaluate_static_transfer.py; scan_source.py; convert_strace.py; fuse_source_trace.py; src/triage.py; run_bundled_llm_reviews.py.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 and code: 01_code/notebooks/RUN_ALL_IN_ONE_LLM_COLAB.ipynb; 01_code/run_project.py; 01_code/evaluate_static_transfer.py. Dataset: 03_dataset/Labelled_Dataset.csv.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02_results/01_static_baseline_and_transfer/content/outputs/paper_baseline/static/static_metrics.json and static_transfer_metrics.json. XGBoost random split metrics and leave-one-ecosystem-out XGBoost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02_results/02_vm_traces_and_fusion/requests_evidence/new_package_evidence_report.json; lodash_evidence/new_package_evidence_report.json; 02_results/03_llm_reviews/*.json. The safe traces do not establish malicious-package detection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recorded in RESEARCH_PROTOCOL.md, evidence reports, and both LLM review files. They should be stated verbally instead of presenting results as production guarantees.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Two-week improvement plan based on the identified gaps: generalization, evidence coverage, workload metrics, and accountable LLM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location: 01_code and included all-in-one Colab ZIP. Before presenting, the student should publish 01_code to a GitHub repository or share the Colab notebook and paste the resulting URL in the orange panel.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a3a2d7f3e4e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941e3e26f845ce" /><Relationship Type="http://schemas.openxmlformats.org/officeDocument/2006/relationships/slideLayout" Target="/ppt/slideLayouts/slideLayout1.xml" Id="Rbb09d26b0e9e40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9d26b0e9e40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024ae3f474d83" /><Relationship Type="http://schemas.openxmlformats.org/officeDocument/2006/relationships/notesSlide" Target="/ppt/notesSlides/notesSlide1.xml" Id="R1358a9366ffd4a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8bef163934e9c" /><Relationship Type="http://schemas.openxmlformats.org/officeDocument/2006/relationships/notesSlide" Target="/ppt/notesSlides/notesSlide2.xml" Id="R8ec6d0d4074c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008eb5787427d" /><Relationship Type="http://schemas.openxmlformats.org/officeDocument/2006/relationships/notesSlide" Target="/ppt/notesSlides/notesSlide3.xml" Id="Rc6b796a7358f4d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57735ac554ece" /><Relationship Type="http://schemas.openxmlformats.org/officeDocument/2006/relationships/notesSlide" Target="/ppt/notesSlides/notesSlide4.xml" Id="R1bd7d8c0aba843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dbfdfebd3448b" /><Relationship Type="http://schemas.openxmlformats.org/officeDocument/2006/relationships/notesSlide" Target="/ppt/notesSlides/notesSlide5.xml" Id="R1d4ce0f48d2d49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5221b875a4e1a" /><Relationship Type="http://schemas.openxmlformats.org/officeDocument/2006/relationships/notesSlide" Target="/ppt/notesSlides/notesSlide6.xml" Id="Rf89822c2c7dd47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9f3c2c4794327" /><Relationship Type="http://schemas.openxmlformats.org/officeDocument/2006/relationships/notesSlide" Target="/ppt/notesSlides/notesSlide7.xml" Id="Rf2a043ceeb134b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06ea962a74e55" /><Relationship Type="http://schemas.openxmlformats.org/officeDocument/2006/relationships/notesSlide" Target="/ppt/notesSlides/notesSlide8.xml" Id="Rcec59d575e5d42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5ef3f286e4d22" /><Relationship Type="http://schemas.openxmlformats.org/officeDocument/2006/relationships/notesSlide" Target="/ppt/notesSlides/notesSlide9.xml" Id="Rcec8622211774c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63B78-E6E1-4488-A663-E10333F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E7590-AAB3-4A23-973A-65D29850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01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AI Based Detection of</a:t>
            </a:r>
          </a:p>
          <a:p xmlns:a="http://schemas.openxmlformats.org/drawingml/2006/main">
            <a:pPr algn="l">
              <a:defRPr sz="32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Malicious Open Source Packages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7E860-2329-43C8-8CAF-F6878C64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52725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498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E8B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E8B86"/>
                </a:solidFill>
                <a:latin typeface="Arial"/>
                <a:ea typeface="Arial"/>
                <a:cs typeface="Arial"/>
              </a:rPr>
              <a:t>Static evidence, isolated dynamic traces, and bounded LLM review for npm and PyPI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85B02-0BDD-4FE2-BA63-0981D2F8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43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Final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C2BD3-D0FF-4557-AE96-DBE31820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14775"/>
            <a:ext cx="6257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project evaluates cross-ecosystem generalization and uses evidence-aware triage when static, dynamic, and LLM evidence remain uncertain.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871DE-EC93-4CBE-A6D5-9A1BA6CB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95036-A57A-4681-B5E0-59E9E40D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VM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55DCD-7A63-4A81-A149-4959145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B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98AB1-A81D-4735-95A5-763870D3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Transparent triage actions preserve uncertainty and send ambiguous cases to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647233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60FB8-EDB5-4CC6-A584-237B8DC8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185C7-EB4A-4637-B45C-E9B985F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9D77E-54B8-47B1-9F6C-6798FB22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project focuses on measurement, evidence provenance, and safe 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B9BE3-2EAA-4633-B8D2-FB9E28FB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CFD27-2363-4BBA-B1F5-89F2BBC6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9C225-9FC9-4B30-970E-E53B963A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08C4E-64FC-4F9E-835F-1F4BB7DE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76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Cross ecosystem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5AD12-6B2C-42CD-AA31-E272A80B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Train a static XGBoost classifier on the released npm and PyPI feature dataset and report per-ecosystem 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759B3-CBFE-4288-8C88-73EED78F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CA966-344D-487E-B7C9-DCE261C1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Transfer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7E22F-DE40-491B-BDCA-DD593FA0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479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 NPM to PyPI and PyPI to NPM performance instead of relying only on a mixed random split.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083E7-BC34-4028-9FD9-AF7B243E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5442F-1C62-4E84-AD51-179E2B15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9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Evidence aware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6D7D4-3682-4FC9-9CC7-D6C5202E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147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Combine read-only source signals and safe VM telemetry into an auditable triage action.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E1763-7E8D-4929-9E51-1FC85C86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096EB-D6BC-4065-870A-AFFBCA84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767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Bounded LLM assistance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82478-6CB2-47A2-8698-A3F5B453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Use a local Qwen model to explain supplied evidence without allowing it to replace the triage policy.</a:t>
            </a:r>
          </a:p>
        </p:txBody>
      </p:sp>
    </p:spTree>
    <p:extLst>
      <p:ext uri="{BB962C8B-B14F-4D97-AF65-F5344CB8AC3E}">
        <p14:creationId xmlns:p14="http://schemas.microsoft.com/office/powerpoint/2010/main" val="19216037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B7E09-5CB0-4B81-8BBD-F6CEF5C0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4A83F-C08F-4028-AACA-64230EC4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45F4F-AFC1-4705-9A11-7158070C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Evidence moves through a controlled pipeline with explicit safety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42A33-F30E-4B89-ADA4-25A94EF2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489E1-A88F-4564-A8FD-723E32B1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3E744-AE89-4336-A9AF-F3103981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A4161-CE4F-4783-927C-442D757F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Released 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596B8-6A5A-43CA-9E53-91993EF8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1,940 labelled records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140 numeric static features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 and PyPI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B90F3-8B25-4ABC-BC7B-A433625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24931-79B1-49F6-B6CB-132BBCD9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Static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A9B93-361A-44A2-A4EB-F43C34AC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XGBoost baseline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random split plus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directional transfer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C9836-3A60-4CDC-89E5-99D80333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273FC-B16B-4F7C-91AB-7423085D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Read only source 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335FC-0923-4A98-911B-39BE91F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Inspect unpacked code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import, install,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or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1FB2C-8E9E-4BC2-A41F-9F7ECDDC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8716D-BAA1-4EC4-B9E1-592A7C25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Isolated VM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A97C6-7345-40FA-BBB3-B97A2D23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Linux Mint strace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known benign packages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D8F90-4A1A-4C55-B97B-138C932D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07651-802E-4CDC-AA3C-E5539BB1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Triage and LLM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580EF-B4C0-47E5-BD6F-E7F0271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Auditable action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LLM explains bounded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EDBFD-2BB3-4BE1-8A6A-9C806A14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67275"/>
            <a:ext cx="104489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Final record: package version, static evidence, trace provenance, dynamic evidence, triage action, and LLM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DB773-F804-4F7B-9742-3CF621AC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67375"/>
            <a:ext cx="960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Safety: the Windows and Colab code do not execute packages. Dynamic traces come only from a disposable Linux Mint VM.</a:t>
            </a:r>
          </a:p>
        </p:txBody>
      </p:sp>
    </p:spTree>
    <p:extLst>
      <p:ext uri="{BB962C8B-B14F-4D97-AF65-F5344CB8AC3E}">
        <p14:creationId xmlns:p14="http://schemas.microsoft.com/office/powerpoint/2010/main" val="1059224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0891F-88B3-4662-9690-F9605E99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7856C-A2CD-40AF-B6D8-D15ACC9A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Experimental Core Details from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57483-3A10-411E-8105-33466FC6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notebook uses the released base-paper CSV and fixed, reproducible settings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C3A87-95DC-4D6E-92C3-A8C2D65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A34BA-3FFB-4715-9145-3F04DDC1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087CD-5007-451B-8C68-6C5278D1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Notebook component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E0981-539F-4540-863D-09FF540D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74399-FB11-4068-9012-B6F4DD2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AB141-938C-4B52-A177-E55E993C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90F5F-0467-4FA8-BBFD-1B882CE7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812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1,940 rows, 140 numeric features, stratified 80/20 split, random state 42, XGBoost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D2F84-E886-4DEB-8728-1BCBA713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812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static_metrics.json and confusion matrix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154D2-4D89-4AFD-A1A7-03330692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Transfer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8D76E-8664-475F-B0E4-35C8C721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8607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Train on NPM and test on PyPI, then reverse the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B74E4-0D52-4B89-85DA-9C777930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static_transfer_metrics.json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B0F71-392B-4033-9E12-2F4F88EE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VM trace import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C299E-E78C-428D-BFD7-C9CF02C0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909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Convert existing Linux strace logs without running the package again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2CA45-34F0-4659-8948-E58F125A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909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requests and lodash trace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E00B0-8B68-4809-9630-3019EA64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 fusion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6111D-9EC3-4B63-B2A8-15204D09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9577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Read-only source heuristic plus imported dynamic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B2081-5BC2-4920-821C-99BCB5E4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new_package_evidence_report.json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D90D8-9C36-41B8-9EFE-CAA7630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Local LLM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902D7-BF79-4713-860E-F65CC838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006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Qwen2.5 1.5B Instruct in Colab, no API key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11DEC-5AC7-4B5D-9E4C-27735333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two bounded review JSON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ED1BF-5BE9-45A2-93C5-ECCD358E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34025"/>
            <a:ext cx="9886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E3B9A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Important distinction: the 140-feature XGBoost probability and the read-only source scanner heuristic are separate measures.</a:t>
            </a:r>
          </a:p>
        </p:txBody>
      </p:sp>
    </p:spTree>
    <p:extLst>
      <p:ext uri="{BB962C8B-B14F-4D97-AF65-F5344CB8AC3E}">
        <p14:creationId xmlns:p14="http://schemas.microsoft.com/office/powerpoint/2010/main" val="1700835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6FA2F-8A4E-4814-89D4-AFA40302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85084-F4CA-4853-A13C-BC751264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2D83E-C879-4BBA-80E1-10F0DD31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combined random split is strong, while transfer between ecosystems loses substantial F1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52AB2-E55B-45CF-A0EA-FA87B2F1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296E1-BE24-4BA5-BDE8-1A1674FE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28664-D249-4146-A83B-9565EAD9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57402-7C8F-4A6A-AEDA-21D1337B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45E8E-2A03-4104-9272-B6CB24A4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01B7F-3DD0-4798-9E2F-5655EFB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03811-9F37-4EDD-9C6E-896D8B7A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BBE8E-52B5-4A8B-89E9-6B681F71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7B218-4A5A-432F-885F-08C249FB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XGBoost random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B5F30-BF75-4EA2-9C22-5302BC4A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0.9691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0D648-EC01-426F-9020-F97035D7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0.9091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BBC38-8D41-4E54-B3BE-26BF648C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0.7692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04048-702A-42EB-8956-B0DF425F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0.8333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67FE5-8995-4F17-B745-1F8BE36F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0.9802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0C54A-96BC-4FF8-B38A-E800955F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 only test subset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C059B-8191-4245-9B98-C324ECD0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0.9784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66165-53FC-4797-BCBF-B931400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0.9286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E3222-0F18-46E1-9B22-416745EF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0.8125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62C20-2758-44A3-B46E-9D1EA180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0.8667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6A6F7-4888-4E62-874E-3B4CE566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0.9952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74908-2A20-4480-BEDE-F02303EA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 only test subset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8FF0B-6293-4394-9356-FC309012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0.9606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8375B2-891F-49ED-8AD4-1EE8D3F1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0.8947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FB67AD-993A-447B-82C7-463608F0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0.7391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12B8D-89D3-49C5-9679-2F38BF83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0.8095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6EE870-02F0-402F-A8F1-7FA04F07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0.9703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9B6E95-76C1-4AE6-9AE0-257238C1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ecosystem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A20AA3-BD8A-40CF-B4DB-04E28A97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ecosystem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7C2C56-CD49-4D8B-AD81-7F42C1DF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576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40AC42-FA53-40CC-8212-6B40B185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3DC31A-FA6D-4DE5-8178-C01E9CA2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46EBD7-D42E-4947-89EE-A61119D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910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378F3E-9746-40D8-87EF-149E76A6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910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8F9A24-564D-40BF-84A0-BE073746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910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0.4962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B5AD52-6E51-40E8-A250-27FFAD24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910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0.7354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7E66F2-BD96-4401-9D25-CFCFA175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9102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Transfer performance drops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2CA0DA-CF1B-4D08-B639-C0F7793B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44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B3667D-62FD-4DDC-A3F8-D6A61A23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244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7F7F31-6FC7-40B3-847D-CCD85A90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244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0.2892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236B4D-605F-422E-8FB0-A0D2BB6B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244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0.7893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13093B-AD1F-488E-844A-7FEE2970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2442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Reverse transfer drops further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11AC3D-5C3D-4980-A82B-9AF8A514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5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Main finding: a high random-split score does not demonstrate reliable static generalization across both package ecosystems.</a:t>
            </a:r>
          </a:p>
        </p:txBody>
      </p:sp>
    </p:spTree>
    <p:extLst>
      <p:ext uri="{BB962C8B-B14F-4D97-AF65-F5344CB8AC3E}">
        <p14:creationId xmlns:p14="http://schemas.microsoft.com/office/powerpoint/2010/main" val="129674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F8E197-25CD-4562-9F93-36B7320C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0F618-C1F0-4FCC-B020-E6BF5ADB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Evidence and Triage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0D1B9-2E0C-4EF7-BB80-2FFC51E8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Two known benign packages demonstrate the value of contextual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49896-5905-49B1-B889-2F768C4C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EB466-27E9-4AEF-BAA8-751611CE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9D3B1-D69D-4A73-9550-84CA2261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24891-4491-4025-BE1D-D286349E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76375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 heuristic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BDC6F-FE96-4EF0-A60F-D4CB29D0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7637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Dynamic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81A8B-1CC8-4634-8E8C-95CE5834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Fused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0AF1C-1662-437C-A05E-EC4B04C4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319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Triage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A1927-0A56-4BAA-89A0-88E05B6B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requests 2.32.3 PyPI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FC58C-8AE4-4F56-955B-39D2815E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7EEDF-8888-469E-AB22-8929479B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4312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FBB22-1F08-41E8-9E4A-F2C270E3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0.325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1AA5C-364A-4A51-ABEE-A6A9239E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19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Human review for ambiguous fused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FC521-7086-4488-A7DA-EE6380FD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lodash 4.17.21 NPM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3DCDE-A49F-4E89-8938-9DF6FA47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9875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E01A7-4EC3-4031-B926-12F108C5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987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813F6-6BCE-4784-BDC8-9AC242D4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0.150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7B458-A2D3-4473-9445-1FDDD9E4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319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Record multimodal low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C9272-9801-4758-ADBC-0FD019F6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AD954-258E-4FC7-9734-0140CF03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45243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controlled experiment intentionally made an HTTPS request. Network activity is expected for an HTTP client, so the policy sends it to review instead of blocking 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D55C95-1F05-4204-A91C-74B59EA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5282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lodash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50B3C-61B2-47F7-B0B3-A2EDB6D1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45243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traced network connection or install hook appeared in the tested path. The LLM remained conservative, so its explanation does not override the low-risk triage action.</a:t>
            </a:r>
          </a:p>
        </p:txBody>
      </p:sp>
    </p:spTree>
    <p:extLst>
      <p:ext uri="{BB962C8B-B14F-4D97-AF65-F5344CB8AC3E}">
        <p14:creationId xmlns:p14="http://schemas.microsoft.com/office/powerpoint/2010/main" val="14263102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823BD-CA6B-431E-8FDB-5A5C4F73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EC99C-C084-4810-9564-F23ECFD6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67495-C217-4B52-9D1F-A1C8EC0F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prototype makes conservative claims and keeps decision uncertainty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F32F8-E3BA-49B5-9E3C-A91EAE84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EAA69-46CC-4DC3-9329-4EB810AA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3E962-3220-4B9A-BE27-8B12FF93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Limited dynamic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C7730-F9B1-4F74-B562-B3E9862B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71600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Only known benign requests and lodash packages were traced. The experiment validates workflow, not malicious-package detection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D3A6A-006A-4E7E-8C8B-18662347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Trace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95283-3DA7-4ECD-9C80-75E25C8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clean trace cannot rule out delayed, environment-gated, dependency-driven, or untested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B196D-65B5-4939-ACCD-CBCC169A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Heuristic source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6758B-392B-4C6C-BA9D-07BF0495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Simple static rules create false positives for legitimate network, packaging, and compatibility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3A250-369B-4124-B629-A02D2563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LLM reliability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D9C79-A707-44C5-AA20-E81AC999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71925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Qwen provides reviewer assistance without a measured accuracy claim. Its medium lodash assessment shows why it cannot override triage.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17328-0342-4D8E-90FA-C4663E83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Evaluation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318BF-9113-4935-B725-54664C03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38700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Dataset split and transfer scores support research comparison, not a production deployment claim.</a:t>
            </a:r>
          </a:p>
        </p:txBody>
      </p:sp>
    </p:spTree>
    <p:extLst>
      <p:ext uri="{BB962C8B-B14F-4D97-AF65-F5344CB8AC3E}">
        <p14:creationId xmlns:p14="http://schemas.microsoft.com/office/powerpoint/2010/main" val="1557748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4B904-EE5D-4805-A1A0-9C386A8A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2693E-ADAF-45CE-B9C3-6E3C1207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Scope of Improvements Within Two Weeks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E41B4-BE37-4575-8106-08824C98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next iteration will increase evidence coverage and make the evaluation more realistic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91217-434C-4A68-B6DF-2E49A685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41906-2B5F-4550-91AE-8234241C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276FD-6984-4136-8179-5C3878C4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1 to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CAB13-5628-41EE-846B-C09F56C8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8590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Collect safe, version-pinned traces for at least 10 known benign npm and PyPI packages in the isolated VM. Record trace duration and package 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4F563-8D51-4780-A75D-541BE989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5 to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A3E3F-5994-4E47-8404-D36FE1F0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4317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Add trace-derived features such as process count, outbound connection count, sensitive-path access, and installation-hook presence. Compare static-only and triage metrics.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CD218-64D9-4C7A-A93A-53164126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9 to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263CD-6E4E-4D76-B45F-4D3EC236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0045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Run time-aware or campaign-aware splits where available. Report per-ecosystem referral rate, missing trace rate, and review workload.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ECAFA-2BA6-4C8B-9D2F-E42ED2B8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12 to 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17EF0-C266-4CE4-A000-F127ADA1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5772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Improve the bounded LLM prompt with evidence citations and a required false-positive section. Review outputs manually against the triage decision.</a:t>
            </a:r>
          </a:p>
        </p:txBody>
      </p:sp>
    </p:spTree>
    <p:extLst>
      <p:ext uri="{BB962C8B-B14F-4D97-AF65-F5344CB8AC3E}">
        <p14:creationId xmlns:p14="http://schemas.microsoft.com/office/powerpoint/2010/main" val="17739048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0F1F2-0496-4920-88BF-66A4C5F9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FAC6A-7EA7-42DC-8704-D430E819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Source Code and Colab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F6CCE-26EC-4213-8F52-D4CCF46C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submission contains the runnable code and the all-in-one Colab bundle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36CC5-2151-4573-A2C4-BF33D6CD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92C75-4FE0-4D8B-A9E6-CAF7813B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CC0B3-5538-40C6-AF9E-47526BFE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Included source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DE77E-8899-4B79-8EA5-39A429C3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771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01_code/ contains every Python module, test, and notebook</a:t>
            </a:r>
          </a:p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01_code/notebooks/RUN_ALL_IN_ONE_LLM_COLAB.ipynb runs both LLM reviews</a:t>
            </a:r>
          </a:p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01_code/ai_package_detection_ALL_IN_ONE_COLAB.zip is the single-file Colab bundle</a:t>
            </a:r>
          </a:p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03_dataset/Labelled_Dataset.csv is the released static-feature dataset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A32B4-FE3B-4F78-95A9-7EB37E2F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668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Link for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C4ADE-83C3-4F8A-8B9F-042B021C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362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E3B9A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Paste your GitHub repository or shared Google Colab URL here before presenting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41EC6-DBE8-46FA-9D16-F322BFF1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718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16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Why no fixed public URL appears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DDE10-2974-4FC9-95AE-4A54AA6C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33800"/>
            <a:ext cx="2362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valid URL requires your own GitHub account or Colab share setting. The runnable files are already included in the submission folder.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EDE1D-D869-4FEE-AD67-E19DD1A5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9906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Colab workflow: upload the all-in-one ZIP, extract it, install requirements-colab-llm.txt, then run run_bundled_llm_reviews.py.</a:t>
            </a:r>
          </a:p>
        </p:txBody>
      </p:sp>
    </p:spTree>
    <p:extLst>
      <p:ext uri="{BB962C8B-B14F-4D97-AF65-F5344CB8AC3E}">
        <p14:creationId xmlns:p14="http://schemas.microsoft.com/office/powerpoint/2010/main" val="889612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2026-09-18T15:38:40.4490000Z</dcterms:created>
  <dcterms:modified xsi:type="dcterms:W3CDTF">2026-09-18T15:38:40.4490000Z</dcterms:modified>
</coreProperties>
</file>