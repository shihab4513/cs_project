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edf689523b74518" Type="http://schemas.openxmlformats.org/officeDocument/2006/relationships/extended-properties" Target="docProps/app.xml"/><Relationship Id="R24d81653e45d4bfd" Type="http://schemas.openxmlformats.org/officeDocument/2006/relationships/officeDocument" Target="ppt/presentation.xml"/><Relationship Id="Re0856edd6ccd46b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6da1535684e8e"/>
  </p:sldMasterIdLst>
  <p:notesMasterIdLst>
    <p:notesMasterId xmlns:r="http://schemas.openxmlformats.org/officeDocument/2006/relationships" r:id="R0a625fb89d6f4af9"/>
  </p:notesMasterIdLst>
  <p:sldIdLst>
    <p:sldId xmlns:r="http://schemas.openxmlformats.org/officeDocument/2006/relationships" id="256" r:id="Raea92d772c09461f"/>
    <p:sldId xmlns:r="http://schemas.openxmlformats.org/officeDocument/2006/relationships" id="257" r:id="Rf762a2ccb64d4a3f"/>
    <p:sldId xmlns:r="http://schemas.openxmlformats.org/officeDocument/2006/relationships" id="258" r:id="Ree7ed63108d041cf"/>
    <p:sldId xmlns:r="http://schemas.openxmlformats.org/officeDocument/2006/relationships" id="259" r:id="R6deb2b8b88f54c5a"/>
    <p:sldId xmlns:r="http://schemas.openxmlformats.org/officeDocument/2006/relationships" id="260" r:id="R9240568250d547d3"/>
    <p:sldId xmlns:r="http://schemas.openxmlformats.org/officeDocument/2006/relationships" id="261" r:id="Rabdaf2c3001d4a0f"/>
    <p:sldId xmlns:r="http://schemas.openxmlformats.org/officeDocument/2006/relationships" id="262" r:id="R8df6c38d3ef34e4e"/>
    <p:sldId xmlns:ns0="http://schemas.openxmlformats.org/officeDocument/2006/relationships" id="263" ns0:id="rId13"/>
    <p:sldId xmlns:ns0="http://schemas.openxmlformats.org/officeDocument/2006/relationships" id="264" ns0:id="rId14"/>
    <p:sldId xmlns:ns0="http://schemas.openxmlformats.org/officeDocument/2006/relationships" id="265" ns0:id="rId15"/>
    <p:sldId xmlns:ns0="http://schemas.openxmlformats.org/officeDocument/2006/relationships" id="266" ns0:id="rId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625fb89d6f4af9" Type="http://schemas.openxmlformats.org/officeDocument/2006/relationships/notesMaster" Target="notesMasters/notesMaster1.xml"/><Relationship Id="R6deb2b8b88f54c5a" Type="http://schemas.openxmlformats.org/officeDocument/2006/relationships/slide" Target="slides/slide4.xml"/><Relationship Id="R84d6da1535684e8e" Type="http://schemas.openxmlformats.org/officeDocument/2006/relationships/slideMaster" Target="slideMasters/slideMaster1.xml"/><Relationship Id="R8df6c38d3ef34e4e" Type="http://schemas.openxmlformats.org/officeDocument/2006/relationships/slide" Target="slides/slide7.xml"/><Relationship Id="R9240568250d547d3" Type="http://schemas.openxmlformats.org/officeDocument/2006/relationships/slide" Target="slides/slide5.xml"/><Relationship Id="Rabdaf2c3001d4a0f" Type="http://schemas.openxmlformats.org/officeDocument/2006/relationships/slide" Target="slides/slide6.xml"/><Relationship Id="Racf98812deec4ed5" Type="http://schemas.openxmlformats.org/officeDocument/2006/relationships/presProps" Target="presProps.xml"/><Relationship Id="Raea92d772c09461f" Type="http://schemas.openxmlformats.org/officeDocument/2006/relationships/slide" Target="slides/slide1.xml"/><Relationship Id="Rc90cdad1b52e43cb" Type="http://schemas.openxmlformats.org/officeDocument/2006/relationships/theme" Target="theme/theme1.xml"/><Relationship Id="Rd81991bcbde243b8" Type="http://schemas.openxmlformats.org/officeDocument/2006/relationships/tableStyles" Target="tableStyles.xml"/><Relationship Id="Ree7ed63108d041cf" Type="http://schemas.openxmlformats.org/officeDocument/2006/relationships/slide" Target="slides/slide3.xml"/><Relationship Id="Rf762a2ccb64d4a3f" Type="http://schemas.openxmlformats.org/officeDocument/2006/relationships/slide" Target="slides/slide2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e2eb8e9d938048a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ad1cc0239cc4f5b" Type="http://schemas.openxmlformats.org/officeDocument/2006/relationships/notesMaster" Target="../notesMasters/notesMaster1.xml"/><Relationship Id="Rb91b871efcff4a04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b4a9b8cb45894263" Type="http://schemas.openxmlformats.org/officeDocument/2006/relationships/slide" Target="../slides/slide2.xml"/><Relationship Id="Rd125f94b5f5740f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b5882deeba034142" Type="http://schemas.openxmlformats.org/officeDocument/2006/relationships/slide" Target="../slides/slide3.xml"/><Relationship Id="Rcbc8e5ab0a734b03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439324d9de804328" Type="http://schemas.openxmlformats.org/officeDocument/2006/relationships/slide" Target="../slides/slide4.xml"/><Relationship Id="Ree9d319150b64d9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0b3104a793149f4" Type="http://schemas.openxmlformats.org/officeDocument/2006/relationships/slide" Target="../slides/slide5.xml"/><Relationship Id="R6e9e936d88044673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bb8ffd55d27043c2" Type="http://schemas.openxmlformats.org/officeDocument/2006/relationships/notesMaster" Target="../notesMasters/notesMaster1.xml"/><Relationship Id="Re9a8c5a62f79470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fd78db947f74fb7" Type="http://schemas.openxmlformats.org/officeDocument/2006/relationships/slide" Target="../slides/slide7.xml"/><Relationship Id="Rb526a55973c8486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revised after literature review feedback. Sources: Duan et al., NDSS 2021; Sejfia and Schafer, ICSE 2022; Huang et al., ASE 2024; Mehedi et al., IEEE TIFS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Duan et al., NDSS 2021; Sejfia and Schafer, ICSE 2022; Ladisa et al., ACSAC 2023; Huang et al., ASE 2024; Mehedi et al., IEEE TIFS 2026; Zeshan et al., Journal of Systems and Software,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Field-level gaps grounded in the literature table on slide 2. The proposal does not describe static/dynamic/LLM fusion itself as new.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designed to operationalize the revised field-level gaps. Dynamic analysis occurs only in a disposable isolated VM; the software project does not automatically execute packages.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scope. The trace collector adapter reads an existing log and never launches a package. Static source scanner is a separate heuristic and is not presented as the Ladisa 140-feature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from the revised project's verified Random Forest fallback, seed 42, using the released Ladisa dataset. NPM-to-PyPI: F1 0.2016, ROC-AUC 0.6600. PyPI-to-NPM: F1 0.3154, ROC-AUC 0.8090.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plan revised from supervisor feedback. It will report workflow cost, uncertainty, evidence provenance, and per-ecosystem behavior, alongside classification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9ce0d2c936b492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ea14badece548d2" Type="http://schemas.openxmlformats.org/officeDocument/2006/relationships/theme" Target="theme/theme2.xml"/><Relationship Id="R5f2d6aaa22964ef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d6aaa2296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f170dde3e934d70" Type="http://schemas.openxmlformats.org/officeDocument/2006/relationships/slideLayout" Target="../slideLayouts/slideLayout1.xml"/><Relationship Id="R563e1621ceac4c2c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0422629c85948be" Type="http://schemas.openxmlformats.org/officeDocument/2006/relationships/notesSlide" Target="../notesSlides/notesSlide2.xml"/><Relationship Id="R9fa503e3b47c42a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311a103cfe04741" Type="http://schemas.openxmlformats.org/officeDocument/2006/relationships/slideLayout" Target="../slideLayouts/slideLayout1.xml"/><Relationship Id="Rf7913e2bd2ac4cfb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0dea785728742d7" Type="http://schemas.openxmlformats.org/officeDocument/2006/relationships/slideLayout" Target="../slideLayouts/slideLayout1.xml"/><Relationship Id="R88850c05594d48ef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63de10422be44a3" Type="http://schemas.openxmlformats.org/officeDocument/2006/relationships/notesSlide" Target="../notesSlides/notesSlide5.xml"/><Relationship Id="Rbbd4e7bfcc884de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a6aa32f40d342f3" Type="http://schemas.openxmlformats.org/officeDocument/2006/relationships/notesSlide" Target="../notesSlides/notesSlide6.xml"/><Relationship Id="Ra4737d9cee5e421c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f236127b21254a75" Type="http://schemas.openxmlformats.org/officeDocument/2006/relationships/notesSlide" Target="../notesSlides/notesSlide7.xml"/><Relationship Id="Rfdb50fa06f344fed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266CF-9F2E-49F6-98D8-9834830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4ED60-9540-4E94-8B4B-7A2446B7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1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AI-Based Detection of</a:t>
            </a:r>
          </a:p>
          <a:p xmlns:a="http://schemas.openxmlformats.org/drawingml/2006/main">
            <a:pPr algn="l">
              <a:defRPr sz="33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Malicious Open-Source Packages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4ECA7-675C-4BF9-980C-6A41C11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E8B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E8B86"/>
                </a:solidFill>
                <a:latin typeface="Arial"/>
                <a:ea typeface="Arial"/>
                <a:cs typeface="Arial"/>
              </a:rPr>
              <a:t>Evidence-aware cross-ecosystem triage for npm and PyPI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872AE-928B-478D-9BD4-F550AA7C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24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Revised research 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9F346-6BF0-4F67-8A2C-5A63943C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48100"/>
            <a:ext cx="645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Hybrid detection already exists. This project measures how to allocate dynamic analysis, preserve evidence provenance, and handle uncertainty across npm and PyPI.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A5463-6D93-4CB5-BBAA-A92EA615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69811-A2E5-47FF-8D51-D58B7BEC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A3A0A-0223-4D70-9301-05106605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0434C-F4D5-495F-8C25-A87415D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71925"/>
            <a:ext cx="274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Human review when evidence is uncertain or contradictory</a:t>
            </a:r>
          </a:p>
        </p:txBody>
      </p:sp>
    </p:spTree>
    <p:extLst>
      <p:ext uri="{BB962C8B-B14F-4D97-AF65-F5344CB8AC3E}">
        <p14:creationId xmlns:p14="http://schemas.microsoft.com/office/powerpoint/2010/main" val="1558589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39769F-6D51-46DC-98C7-421AA2E2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19347-DD24-4C4B-A670-7C5F11B4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FFD8E-973E-4792-A125-761E11BD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Existing work already combines complementary sources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64E2D-3D5E-44C2-8985-8AAD29E2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D6148-D1A8-484C-BCD9-3B46C60D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A49EC-5858-44E2-87B0-E26AF1D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BBAF9-EC74-4B08-826F-E490D96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2875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81F7B-9B84-4699-9E50-EA7CA459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1BDF9-0866-4BA6-91A3-48626A74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38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contribution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AD4A2-8D76-4229-B012-C1C34DA0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37E36-3869-4CC8-BF58-5987D28C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7165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NDSS 2021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B53C2-F9FB-4FC0-90C8-5B71D821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716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PyPI, npm, RubyGems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BBB5D-9EA0-4576-B8F7-7024A03C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Large-scale supply-chain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48F50-3550-4624-9CE1-43EE58A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Amalfi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CAF9B-C14E-4FA9-950C-5616C3B6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384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ICSE 2022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CCD76-1735-4949-9478-937EDAE8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039FE-4922-4437-95E6-23F3192D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384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ML screening, reproducibility, clone detection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86C8A-5970-46E1-8BBB-F2B7E0BE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Ladisa et 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1165E-A022-4D45-B996-00CEA163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0515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ACSAC 2023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95EBB-C031-42BA-AD29-99E278D0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and PyPI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F8420-572E-4001-BFB1-B677BFB8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Shared language-independent static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F445E-DAB5-454B-9CF9-13B10442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SpiderScan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B97D0-F130-455F-A799-B3F4CE1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719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ASE 2024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691D5-8D5B-4999-A9BC-9F424B00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719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4DC4E-4DA8-43AF-8C9F-8E814D7E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Behavior graphs, selected dynamic and LLM confirmation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16910-FC88-45C9-9DBA-4EFCCA7C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DySec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14C62E-E7F2-4665-B665-A9AEBA63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3865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IEEE TIFS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457DE-90F5-4F2E-8B5C-7F6BCC9C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386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552B8E-B8E1-4042-95C7-0BD3A9A5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eBPF-based installation telemetry and 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D9FCA7-2AA3-4A6D-B58E-3A12FBD2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LAMPS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E02EB-1640-4E11-80B8-E4D35A49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054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JSS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557E93-312C-4AEE-81A0-A8588AAE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CFA807-CB01-4985-89AE-90D88149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054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Role-specific LLM analysis and verdict aggregation</a:t>
            </a:r>
          </a:p>
        </p:txBody>
      </p:sp>
    </p:spTree>
    <p:extLst>
      <p:ext uri="{BB962C8B-B14F-4D97-AF65-F5344CB8AC3E}">
        <p14:creationId xmlns:p14="http://schemas.microsoft.com/office/powerpoint/2010/main" val="1605931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DF4D6-ABDC-46B8-AF48-6EDF5CF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8583B-A9E8-4112-82BD-7FA9B11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Research Gaps After Prior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9B92B-CDB7-4421-A277-1949B766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contribution is an evaluation and decision-policy gap, not a claim that hybrid analysis is 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C7F3C-870A-45F2-93AC-6B40FBB0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81CA5-6719-42FE-9BC8-2EB912A6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BD46D-9533-4F35-9627-9AC44FDD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CA66-3D66-4DE6-98B3-4E380EF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Cross-ecosystem comparability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4F78A-9B1B-43B6-B603-7B47083A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3832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features, eBPF traces, and behavior graphs use different representations. Results rarely share a normalized evidence record across npm and PyPI.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9CD01-3E0F-4939-B2A3-0D499FD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BEB3D-A296-4703-9993-2CFCDFE3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Triage workload and abstention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6444E-C750-48DE-8962-8032B79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622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Registry workflows need referral rate, trace duration, missing-evidence rate, and reviewer workload, not only detector accuracy.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20C0C-9C0F-411A-81C8-51660987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13DCC-1E20-434B-8254-9003FD5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Coverage and generalization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C9610-0085-4AAE-B36B-11CE48F4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8622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Install-time and graph-based systems can miss delayed, environment-gated, or new behavior. Combined random splits can conceal directional transfer failure.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14BF5-4691-4004-968F-6768C2FE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34F48-769B-4ACE-9C68-CA7D3C35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Auditable LLM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0A307-8393-422A-A377-4B36F15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01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LLMs help contextual review, but they need traceable inputs, bounded claims, uncertainty reporting, and human escalation.</a:t>
            </a:r>
          </a:p>
        </p:txBody>
      </p:sp>
    </p:spTree>
    <p:extLst>
      <p:ext uri="{BB962C8B-B14F-4D97-AF65-F5344CB8AC3E}">
        <p14:creationId xmlns:p14="http://schemas.microsoft.com/office/powerpoint/2010/main" val="400676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4040E-FB22-4FE5-A3C3-717731AE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D4259-0B24-432A-BEC7-B01BBF5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Proposed Evidence-Triage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D35D7-5BA8-4DE8-B6FE-240F5340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policy decides what evidence to collect next, then preserves uncertainty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7B29E-5B7F-4992-90CD-DAEDA8F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EA1C6-5059-40DE-B8E4-4AC69DA3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335DD-842F-423B-A36F-FF6A491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8E56E-1735-4C74-9E5E-86F621E0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13AE6-A3B9-4EA5-9832-3772D891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228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Released Ladisa dataset and model. Report in-domain and directional transfer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2B609-097E-48AA-BFD8-5AEC229A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57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4657A-F9BF-4508-B928-5550A06B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76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Uncertainty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B544E-79B8-4DCD-85DD-4C986A3A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14625"/>
            <a:ext cx="228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Scores in the review band enter controlled dynamic analysis. High static risk without a trace goes to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97B1B-47F1-4380-8760-474A468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57D51-D921-48BD-833A-580D99CD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Isolated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500D7-AB95-497F-9C0A-34C2F4E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228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Linux Mint VM collects install-time process, file, network, and hook evidence. A clean trace is not proof of benignness.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20BEC-EA68-4376-81CA-6EB4956F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49AA9-AF99-4D2C-8176-BA1B4456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76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Evidence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93E2B-13F1-447A-963D-31A9155A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14625"/>
            <a:ext cx="228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Bounded LLM prompt cites observations. Modality disagreement and high fused risk require human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617EB-B16F-43C4-8FA7-FEC2B415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1005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Outputs: static score | trace provenance | dynamic score | triage action | evidence-grounded explanation</a:t>
            </a:r>
          </a:p>
        </p:txBody>
      </p:sp>
    </p:spTree>
    <p:extLst>
      <p:ext uri="{BB962C8B-B14F-4D97-AF65-F5344CB8AC3E}">
        <p14:creationId xmlns:p14="http://schemas.microsoft.com/office/powerpoint/2010/main" val="777773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79669-B746-406E-BFBC-7DAAF3DC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4CDF0-6BE3-4981-B457-D824ED6C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Implemented Code and Safety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A4E61-56E5-48B5-923D-DB2DA466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Current prototype supports the evaluation protocol without executing packages on the host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E2507-24C6-4F89-BF2D-B83B00C0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8E17F-E9D8-48B5-9DDF-14548FC6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E8563-5576-4262-B067-69F7D5DC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66850"/>
            <a:ext cx="8096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XGBoost baseline on the released 1,940-record npm/PyPI dataset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Leave-one-ecosystem-out evaluator: NPM-to-PyPI and PyPI-to-NPM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Read-only source scanner with production versus test/doc separation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strace adapter that imports pre-collected Linux VM telemetry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Evidence-aware triage: queue uncertain cases and review disagreement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Bounded LLM prompt generator that cites evidence and states uncertainty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8BCA4-0895-4FCC-9905-91F4A668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849D5-A08C-4133-A785-10031D73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9550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E3B9A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package source is imported, installed, or executed by the Windows or Colab code. Dynamic traces must come from a disposable VM.</a:t>
            </a:r>
          </a:p>
        </p:txBody>
      </p:sp>
    </p:spTree>
    <p:extLst>
      <p:ext uri="{BB962C8B-B14F-4D97-AF65-F5344CB8AC3E}">
        <p14:creationId xmlns:p14="http://schemas.microsoft.com/office/powerpoint/2010/main" val="1900623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DCC94-EFF2-4146-B6D8-4DCA3A8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E3C4B-5C37-4759-8A77-AB4EBD0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Initial Cross-Ecosystem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639B9-0FC7-47B9-9C00-C138E0C2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Leave-one-ecosystem-out evaluation exposes transfer loss hidden by a combined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C825D-8ED5-4443-9F0A-B00B0018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86880-447B-488A-B3BC-3BEF402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FA513-7181-4D28-846A-B05AF984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Verified Random Forest fallback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091AA-3DAC-42CC-84F2-69B76C40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 ecosystem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C8E46-67D4-4933-965E-47D37831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ecosystem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F5F58-1CBA-4CE0-B836-7AAF6C3B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1524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81EF3-B98A-41E1-BAFF-73BAB226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ROC-AUC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15CBD-C238-4450-83C0-75B9769C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A836A-B45B-4436-9FD2-560DFA3E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C3849-3637-4361-BE30-AA3BCEE8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1524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0.2016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7997D-8C69-4549-8BA5-6E6E1637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0.6600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3D9D6-35C9-4DB1-A4EB-1643F32E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6978C-DCF3-4093-9A4A-E9E283B8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F6740-FD64-430C-8344-E28C450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90875"/>
            <a:ext cx="1524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0.3154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06326-BE55-4D4E-818C-6D7489DF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0.8090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5AE69-47C5-4688-B784-305F86F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DDE8D-FD97-48A5-92C5-608F1B02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08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shared static feature space transfers unevenly in both directions. These results motivate directional reporting and targeted evidence collection. They are not a deployment estimate or a comparison with DySec or SpiderScan.</a:t>
            </a:r>
          </a:p>
        </p:txBody>
      </p:sp>
    </p:spTree>
    <p:extLst>
      <p:ext uri="{BB962C8B-B14F-4D97-AF65-F5344CB8AC3E}">
        <p14:creationId xmlns:p14="http://schemas.microsoft.com/office/powerpoint/2010/main" val="1486401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623EE-2BB1-4ADD-AAE4-E20EAA90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48104-0B45-4DF8-BE86-E842F497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Evaluation Plan and Next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F1787-6EFB-4303-A174-6B370FBD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Success depends on evidence quality and review workload, not accuracy alone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0C7D3-4984-40EC-97B7-BC3F19F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EDC02-7A83-419D-A528-C56BF037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EB534-2DA4-4288-AC67-A784493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Reproduce the static baseline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Run directional transfer evaluation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Collect approved-package traces in the Linux Mint VM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 referral rate, trace duration, missing traces, and disagreement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Compare static-only with triaged multi-modal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2466A-1309-47CF-BD3A-BFE96D57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Report per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ACFE3-1DC7-441D-AA7A-0AFDB5B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ecosystem and package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47A05-4244-4AB3-A699-63C149A3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479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model and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C7C57-4763-43B0-91BB-A3EF6FF5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5277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trace collection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1E80D-226A-4D51-914E-54179D95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576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dynamic observations and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F26E0-55F9-462D-A9AF-4C8A7620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6242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triage action and reviewer rationale</a:t>
            </a:r>
          </a:p>
        </p:txBody>
      </p:sp>
    </p:spTree>
    <p:extLst>
      <p:ext uri="{BB962C8B-B14F-4D97-AF65-F5344CB8AC3E}">
        <p14:creationId xmlns:p14="http://schemas.microsoft.com/office/powerpoint/2010/main" val="150546300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F"/>
                </a:solidFill>
              </a:defRPr>
            </a:pPr>
            <a:r>
              <a:t>Updated XGBoost Transfer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B6F"/>
                </a:solidFill>
              </a:defRPr>
            </a:pPr>
            <a:r>
              <a:t>The latest executable run reports the model and direction explicitly.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NPM to PyPI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F1 = 0.4662 | ROC-AUC = 0.7277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PyPI to NPM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F1 = 0.3058 | ROC-AUC = 0.7887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86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Interpretation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Transfer remains asymmetric. These values are XGBoost results from the current run and are not deployment estimates.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B8C"/>
                </a:solidFill>
              </a:defRPr>
            </a:pPr>
            <a:r>
              <a:t>AI-Based Malicious Open-Source Package Detection | Integrated Experiment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F"/>
                </a:solidFill>
              </a:defRPr>
            </a:pPr>
            <a:r>
              <a:t>Experiment C: Target-Label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B6F"/>
                </a:solidFill>
              </a:defRPr>
            </a:pPr>
            <a:r>
              <a:t>How many labeled packages from a new ecosystem are needed?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Condition A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Train on all source-ecosystem packages plus k labeled target packages.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Condition B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Train on k target packages only. Both conditions use the same held-out target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86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Protocol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8 seeds, 65% target pool, 35% target holdout, budgets from 0 to 400, with F1, ROC-AUC, and PR-AUC.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B8C"/>
                </a:solidFill>
              </a:defRPr>
            </a:pPr>
            <a:r>
              <a:t>AI-Based Malicious Open-Source Package Detection | Integrated Experiment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F"/>
                </a:solidFill>
              </a:defRPr>
            </a:pPr>
            <a:r>
              <a:t>Experiment C: Initial Verified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B6F"/>
                </a:solidFill>
              </a:defRPr>
            </a:pPr>
            <a:r>
              <a:t>NPM source data remains useful, but target labels progressively reduce the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NPM plus k PyPI labels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F1 = 0.533 at k=0; 0.586 at k=25; 0.652 at k=50; 0.696 at k=200; 0.711 at k=400.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Target-only comparison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At k=400, PyPI-only F1 = 0.698 versus 0.711 with NPM data added.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86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Scientific reading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The source corpus gives a useful transfer floor, but this experiment does not prove that 25 labels are sufficient.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B8C"/>
                </a:solidFill>
              </a:defRPr>
            </a:pPr>
            <a:r>
              <a:t>AI-Based Malicious Open-Source Package Detection | Integrated Experiment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F"/>
                </a:solidFill>
              </a:defRPr>
            </a:pPr>
            <a:r>
              <a:t>Final Contribution After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B6F"/>
                </a:solidFill>
              </a:defRPr>
            </a:pPr>
            <a:r>
              <a:t>The contribution is an evaluation and decision-policy framework, not a new hybrid detector.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Contribution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Measure directional transfer, target-label efficiency, dynamic-analysis referral, modality disagreement, and evidence provenance.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Operational value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Show when source data helps and when a registry should invest in target-ecosystem labeling.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86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7293"/>
                </a:solidFill>
              </a:defRPr>
            </a:pPr>
            <a:r>
              <a:t>Limitations</a:t>
            </a:r>
          </a:p>
          <a:p>
            <a:pPr>
              <a:spcAft>
                <a:spcPts val="800"/>
              </a:spcAft>
              <a:defRPr sz="1500">
                <a:solidFill>
                  <a:srgbClr val="263140"/>
                </a:solidFill>
              </a:defRPr>
            </a:pPr>
            <a:r>
              <a:t>One released dataset, limited dynamic coverage, small triage example, and no claim that LLM output is ground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B8C"/>
                </a:solidFill>
              </a:defRPr>
            </a:pPr>
            <a:r>
              <a:t>AI-Based Malicious Open-Source Package Detection | Integrated Experiment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AI-Based Malicious Open-Source Package Detection - Integrated Results</dc:title>
  <dcterms:created xsi:type="dcterms:W3CDTF">2026-09-16T15:32:44.8030000Z</dcterms:created>
  <dcterms:modified xsi:type="dcterms:W3CDTF">2026-09-16T15:32:44.8030000Z</dcterms:modified>
  <dc:subject>Cross-ecosystem transfer and target-label efficiency</dc:subject>
</coreProperties>
</file>