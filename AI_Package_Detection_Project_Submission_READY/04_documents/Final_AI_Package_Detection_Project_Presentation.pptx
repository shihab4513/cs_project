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e98c9fd5fe4167" /><Relationship Type="http://schemas.openxmlformats.org/officeDocument/2006/relationships/extended-properties" Target="/docProps/app.xml" Id="Rdc105ad4104b4c9b" /><Relationship Type="http://schemas.openxmlformats.org/officeDocument/2006/relationships/officeDocument" Target="/ppt/presentation.xml" Id="Rfb68f9662a4e46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42ec96963f407a"/>
  </p:sldMasterIdLst>
  <p:notesMasterIdLst>
    <p:notesMasterId xmlns:r="http://schemas.openxmlformats.org/officeDocument/2006/relationships" r:id="R25515d971e3342fc"/>
  </p:notesMasterIdLst>
  <p:sldIdLst>
    <p:sldId xmlns:r="http://schemas.openxmlformats.org/officeDocument/2006/relationships" id="256" r:id="R5eae6271534a4cb1"/>
    <p:sldId xmlns:r="http://schemas.openxmlformats.org/officeDocument/2006/relationships" id="257" r:id="Rddabec62e4e94005"/>
    <p:sldId xmlns:r="http://schemas.openxmlformats.org/officeDocument/2006/relationships" id="258" r:id="R253e8a2833a44bae"/>
    <p:sldId xmlns:r="http://schemas.openxmlformats.org/officeDocument/2006/relationships" id="259" r:id="Rc17003f2c7da4ae9"/>
    <p:sldId xmlns:r="http://schemas.openxmlformats.org/officeDocument/2006/relationships" id="260" r:id="Rd80660e8d836483b"/>
    <p:sldId xmlns:r="http://schemas.openxmlformats.org/officeDocument/2006/relationships" id="261" r:id="R1760150b21934218"/>
    <p:sldId xmlns:r="http://schemas.openxmlformats.org/officeDocument/2006/relationships" id="262" r:id="Rf75ef40ed7744a2f"/>
    <p:sldId xmlns:r="http://schemas.openxmlformats.org/officeDocument/2006/relationships" id="263" r:id="R31a003ef1a6849fa"/>
    <p:sldId xmlns:r="http://schemas.openxmlformats.org/officeDocument/2006/relationships" id="264" r:id="R0eca0dde4ce746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8be76c24f74f7e" /><Relationship Type="http://schemas.openxmlformats.org/officeDocument/2006/relationships/slideMaster" Target="/ppt/slideMasters/slideMaster1.xml" Id="Rca42ec96963f407a" /><Relationship Type="http://schemas.openxmlformats.org/officeDocument/2006/relationships/notesMaster" Target="/ppt/notesMasters/notesMaster1.xml" Id="R25515d971e3342fc" /><Relationship Type="http://schemas.openxmlformats.org/officeDocument/2006/relationships/presProps" Target="/ppt/presProps.xml" Id="R9d0adccece3f44d3" /><Relationship Type="http://schemas.openxmlformats.org/officeDocument/2006/relationships/tableStyles" Target="/ppt/tableStyles.xml" Id="Rbd8a4a13d6df40e1" /><Relationship Type="http://schemas.openxmlformats.org/officeDocument/2006/relationships/slide" Target="/ppt/slides/slide1.xml" Id="R5eae6271534a4cb1" /><Relationship Type="http://schemas.openxmlformats.org/officeDocument/2006/relationships/slide" Target="/ppt/slides/slide2.xml" Id="Rddabec62e4e94005" /><Relationship Type="http://schemas.openxmlformats.org/officeDocument/2006/relationships/slide" Target="/ppt/slides/slide3.xml" Id="R253e8a2833a44bae" /><Relationship Type="http://schemas.openxmlformats.org/officeDocument/2006/relationships/slide" Target="/ppt/slides/slide4.xml" Id="Rc17003f2c7da4ae9" /><Relationship Type="http://schemas.openxmlformats.org/officeDocument/2006/relationships/slide" Target="/ppt/slides/slide5.xml" Id="Rd80660e8d836483b" /><Relationship Type="http://schemas.openxmlformats.org/officeDocument/2006/relationships/slide" Target="/ppt/slides/slide6.xml" Id="R1760150b21934218" /><Relationship Type="http://schemas.openxmlformats.org/officeDocument/2006/relationships/slide" Target="/ppt/slides/slide7.xml" Id="Rf75ef40ed7744a2f" /><Relationship Type="http://schemas.openxmlformats.org/officeDocument/2006/relationships/slide" Target="/ppt/slides/slide8.xml" Id="R31a003ef1a6849fa" /><Relationship Type="http://schemas.openxmlformats.org/officeDocument/2006/relationships/slide" Target="/ppt/slides/slide9.xml" Id="R0eca0dde4ce746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16812c643a4e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edd713d14a4d7e" /><Relationship Type="http://schemas.openxmlformats.org/officeDocument/2006/relationships/notesMaster" Target="/ppt/notesMasters/notesMaster1.xml" Id="R665db31591e84a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cf68f4c32b4eee" /><Relationship Type="http://schemas.openxmlformats.org/officeDocument/2006/relationships/notesMaster" Target="/ppt/notesMasters/notesMaster1.xml" Id="R0856d1090ea648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614955b2844ae9" /><Relationship Type="http://schemas.openxmlformats.org/officeDocument/2006/relationships/notesMaster" Target="/ppt/notesMasters/notesMaster1.xml" Id="Rb8401cad8ce14c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ae9d56b325480b" /><Relationship Type="http://schemas.openxmlformats.org/officeDocument/2006/relationships/notesMaster" Target="/ppt/notesMasters/notesMaster1.xml" Id="R232480c6369749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2a5187743d4e5d" /><Relationship Type="http://schemas.openxmlformats.org/officeDocument/2006/relationships/notesMaster" Target="/ppt/notesMasters/notesMaster1.xml" Id="R70323a89cc044f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d82deb668948ab" /><Relationship Type="http://schemas.openxmlformats.org/officeDocument/2006/relationships/notesMaster" Target="/ppt/notesMasters/notesMaster1.xml" Id="Rb0ba09a69e6746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7de999561d468f" /><Relationship Type="http://schemas.openxmlformats.org/officeDocument/2006/relationships/notesMaster" Target="/ppt/notesMasters/notesMaster1.xml" Id="R44d185658ed345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d6d5225026428e" /><Relationship Type="http://schemas.openxmlformats.org/officeDocument/2006/relationships/notesMaster" Target="/ppt/notesMasters/notesMaster1.xml" Id="Rce04c76b90eb4f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b603956c7644ed" /><Relationship Type="http://schemas.openxmlformats.org/officeDocument/2006/relationships/notesMaster" Target="/ppt/notesMasters/notesMaster1.xml" Id="R785ffb6902db41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topic and verified implementation. Results and files included in AI_Package_Detection_Project_Submission_READY.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Objectives derived from the revised project proposal and supervisor feedback. The project does not claim that hybrid detection itself is novel.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files: run_project.py; evaluate_static_transfer.py; scan_source.py; convert_strace.py; fuse_source_trace.py; src/triage.py; run_bundled_llm_reviews.py.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Notebook and code: 01_code/notebooks/RUN_ALL_IN_ONE_LLM_COLAB.ipynb; 01_code/run_project.py; 01_code/evaluate_static_transfer.py. Dataset: 03_dataset/Labelled_Dataset.csv.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02_results/01_static_baseline_and_transfer/content/outputs/paper_baseline/static/static_metrics.json and static_transfer_metrics.json. XGBoost random split metrics and leave-one-ecosystem-out XGBoost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02_results/02_vm_traces_and_fusion/requests_evidence/new_package_evidence_report.json; lodash_evidence/new_package_evidence_report.json; 02_results/03_llm_reviews/*.json. The safe traces do not establish malicious-package detection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Limitations recorded in RESEARCH_PROTOCOL.md, evidence reports, and both LLM review files. They should be stated verbally instead of presenting results as production guarantees.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Two-week improvement plan based on the identified gaps: generalization, evidence coverage, workload metrics, and accountable LLM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 location: 01_code and included all-in-one Colab ZIP. Before presenting, the student should publish 01_code to a GitHub repository or share the Colab notebook and paste the resulting URL in the orange panel.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f2e572a3184d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fc815bf38b4fd4" /><Relationship Type="http://schemas.openxmlformats.org/officeDocument/2006/relationships/slideLayout" Target="/ppt/slideLayouts/slideLayout1.xml" Id="R20a41e731ebd43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a41e731ebd43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d41eb26174eac" /><Relationship Type="http://schemas.openxmlformats.org/officeDocument/2006/relationships/notesSlide" Target="/ppt/notesSlides/notesSlide1.xml" Id="Rbf559d8fd08342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520e525684c1d" /><Relationship Type="http://schemas.openxmlformats.org/officeDocument/2006/relationships/notesSlide" Target="/ppt/notesSlides/notesSlide2.xml" Id="R5c01c5a42e6a4a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212c6c9ae4853" /><Relationship Type="http://schemas.openxmlformats.org/officeDocument/2006/relationships/notesSlide" Target="/ppt/notesSlides/notesSlide3.xml" Id="R63b02fa2531e46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fe4453b824e00" /><Relationship Type="http://schemas.openxmlformats.org/officeDocument/2006/relationships/notesSlide" Target="/ppt/notesSlides/notesSlide4.xml" Id="Re5d7fd0854a947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a9d08959f49d2" /><Relationship Type="http://schemas.openxmlformats.org/officeDocument/2006/relationships/notesSlide" Target="/ppt/notesSlides/notesSlide5.xml" Id="R1d8175f300774f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59ec030944f6d" /><Relationship Type="http://schemas.openxmlformats.org/officeDocument/2006/relationships/notesSlide" Target="/ppt/notesSlides/notesSlide6.xml" Id="R53a4fed5cb5742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b9dfdbd844fee" /><Relationship Type="http://schemas.openxmlformats.org/officeDocument/2006/relationships/notesSlide" Target="/ppt/notesSlides/notesSlide7.xml" Id="R61ee271d535f44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a8f3056484ca9" /><Relationship Type="http://schemas.openxmlformats.org/officeDocument/2006/relationships/notesSlide" Target="/ppt/notesSlides/notesSlide8.xml" Id="R242ab607706149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5cfc8f6174a03" /><Relationship Type="http://schemas.openxmlformats.org/officeDocument/2006/relationships/notesSlide" Target="/ppt/notesSlides/notesSlide9.xml" Id="R2617a8355e1b49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99522-5C1F-4FB8-887F-DB6B48A5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D5DD6-5A0E-4298-B266-AB942734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901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AI Based Detection of</a:t>
            </a:r>
          </a:p>
          <a:p xmlns:a="http://schemas.openxmlformats.org/drawingml/2006/main">
            <a:pPr algn="l">
              <a:defRPr sz="32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Malicious Open Source Packages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2D7E0-0B58-4D80-AC70-62AA3263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52725"/>
            <a:ext cx="657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498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E8B8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E8B86"/>
                </a:solidFill>
                <a:latin typeface="Arial"/>
                <a:ea typeface="Arial"/>
                <a:cs typeface="Arial"/>
              </a:rPr>
              <a:t>Static evidence, isolated dynamic traces, and bounded LLM review for npm and PyPI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94006-A094-4D21-A3BA-B14CDC01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433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Final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64371-8E8E-4787-A46A-958342AB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14775"/>
            <a:ext cx="62579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The project evaluates cross-ecosystem generalization and uses evidence-aware triage when static, dynamic, and LLM evidence remain uncertain.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4C7DB-E1E3-418B-817A-6DDA2B2A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62150"/>
            <a:ext cx="1857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0980C-9C7D-41C5-9C82-EC84E0DA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62150"/>
            <a:ext cx="1857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8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VM TRACE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485CF-00BC-4F3E-B4E2-0EEFFCBB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62150"/>
            <a:ext cx="1857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B2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LLM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39AB7-0D1E-4058-AAF4-055F15F7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24175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Transparent triage actions preserve uncertainty and send ambiguous cases to human review.</a:t>
            </a:r>
          </a:p>
        </p:txBody>
      </p:sp>
    </p:spTree>
    <p:extLst>
      <p:ext uri="{BB962C8B-B14F-4D97-AF65-F5344CB8AC3E}">
        <p14:creationId xmlns:p14="http://schemas.microsoft.com/office/powerpoint/2010/main" val="21383757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15A00D-29A9-494D-A846-666C077F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1C2AD-0411-43FC-AA78-ACE8EFF6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16AD3-D7F0-48C4-97B5-FFC232C7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The project focuses on measurement, evidence provenance, and safe triage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A79B5-1691-4333-93A6-768A8517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76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CF702-4D3D-4862-80EA-81512D8A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95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 Based Detection of Malicious Open 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DC814-DA4D-4142-8181-09C89C2B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859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13ACCA-6970-4E3D-8FD5-CF6C825E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763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Cross ecosystem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A4D79-7282-4358-AEFB-8EE34B0A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81175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Train a static XGBoost classifier on the released npm and PyPI feature dataset and report per-ecosystem performance.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9E6A0-3144-46B1-8276-9F3AB646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2083D-3271-4D5F-91FF-6250E00D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431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Transfer evaluation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1FD2E-C2AC-42CD-A97E-54B62CFC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47975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Measure NPM to PyPI and PyPI to NPM performance instead of relying only on a mixed random split.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E0104A-EC54-46BE-ABA4-CD8617BA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8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7562B-CE57-4D4B-933F-E207E211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099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Evidence aware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3EEB4C-5F67-44B9-A541-713F0609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14775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Combine read-only source signals and safe VM telemetry into an auditable triage action.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8F28B9-1663-43B9-A935-4CD6222D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D9A25D-33D7-4A95-8D55-4DA2C46D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767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Bounded LLM assistance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98AC91-BE5B-4433-88CC-1BEB578A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81575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Use a local Qwen model to explain supplied evidence without allowing it to replace the triage policy.</a:t>
            </a:r>
          </a:p>
        </p:txBody>
      </p:sp>
    </p:spTree>
    <p:extLst>
      <p:ext uri="{BB962C8B-B14F-4D97-AF65-F5344CB8AC3E}">
        <p14:creationId xmlns:p14="http://schemas.microsoft.com/office/powerpoint/2010/main" val="3008213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2E3FEA-C797-4924-8335-2DFCE878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63B12-9B08-4E4B-9D4A-59F851CD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09508-7A43-4AA0-8BFA-924856E0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Evidence moves through a controlled pipeline with explicit safety boundaries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76D02-8891-4E31-9BE7-D22887D5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76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52A42-7288-4B8D-8EF6-240FC9E2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95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 Based Detection of Malicious Open 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78509-AE04-4B92-BA42-9415B94F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02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C5EB5-5D0A-480E-9F9A-0B1AD0D8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24075"/>
            <a:ext cx="1943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Released dataset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43623-757C-4DB4-A563-24309E95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43175"/>
            <a:ext cx="1943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1,940 labelled records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140 numeric static features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npm and PyPI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0D137-4928-424E-9CCC-97EDF319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6002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C416C-CDBE-46C9-BE62-1263ABDC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124075"/>
            <a:ext cx="1943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Static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1FBE7-BCFE-4B74-BEA6-E72D8B32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543175"/>
            <a:ext cx="1943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XGBoost baseline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random split plus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directional transfer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379AA-64A6-442B-93FD-A1C18E86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6002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DB167-79C1-4524-AE20-F120F173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124075"/>
            <a:ext cx="1943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092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Read only source scan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1AFD7-267B-4571-AB7D-AEF1479E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543175"/>
            <a:ext cx="1943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Inspect unpacked code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 import, install,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or execution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BA2CBA-0F7F-4094-9A70-15D87AF2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6002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8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A32924-CCEE-43B3-84F1-26EEBE4F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124075"/>
            <a:ext cx="1943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Isolated VM trace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1AA64-D2FB-4233-9B88-B412D1E2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543175"/>
            <a:ext cx="1943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Linux Mint strace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known benign packages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FBD630-2753-46E2-97CE-5DAC3D10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6002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9343C-F21D-4033-8456-006D0B7B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124075"/>
            <a:ext cx="1943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Triage and LLM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4A3B27-7D6F-4664-992D-9FE97109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543175"/>
            <a:ext cx="1943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Auditable action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LLM explains bounded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E5567F-0C51-4F04-8083-8BDE2213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67275"/>
            <a:ext cx="104489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Final record: package version, static evidence, trace provenance, dynamic evidence, triage action, and LLM explanation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36F3A2-05F2-4197-A17E-6B0CE495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67375"/>
            <a:ext cx="9601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Safety: the Windows and Colab code do not execute packages. Dynamic traces come only from a disposable Linux Mint VM.</a:t>
            </a:r>
          </a:p>
        </p:txBody>
      </p:sp>
    </p:spTree>
    <p:extLst>
      <p:ext uri="{BB962C8B-B14F-4D97-AF65-F5344CB8AC3E}">
        <p14:creationId xmlns:p14="http://schemas.microsoft.com/office/powerpoint/2010/main" val="5454642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89501B-63ED-4F94-9719-7C7763C7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DD026-DF27-4394-B1FB-09F9FBD7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Experimental Core Details from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B29D3-9035-40DD-8414-8F752304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The notebook uses the released base-paper CSV and fixed, reproducible settings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F3FAF-AE15-4E71-85BC-CA811E6F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76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29714-E972-4A7B-8A72-DDDA48F0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95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 Based Detection of Malicious Open 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6006E-783C-4D9B-81D8-53E1F251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Notebook component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02C95-A4D6-4421-A068-4DB16F63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76375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90A4B-93A8-4E14-9D11-6C4CDB46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D54FD-D198-4D54-9DF9-1213AA5D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1225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Static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E4660-7A18-4D15-ADA2-0573F47F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81225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1,940 rows, 140 numeric features, stratified 80/20 split, random state 42, XGBoost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398FB-E636-4B81-9BB9-61CECF08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8122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static_metrics.json and confusion matrix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CB1AE7-C72A-4772-956F-1821C3AF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Transfer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7A3EC-C7DB-42D9-8A60-912E9ACC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86075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Train on NPM and test on PyPI, then reverse the direction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4F7F8-FE3A-41FA-B6DA-3B6735DC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8607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static_transfer_metrics.json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09003-4BDB-4D65-AF9B-C7A134E3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VM trace import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9660A0-FF94-4C6B-BDF1-6B4D1E9D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90925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Convert existing Linux strace logs without running the package again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365061-1E76-4DFE-90A6-6D32C8EF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9092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requests and lodash trace 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604977-0A93-430C-9218-D257280B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95775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Evidence fusion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3B01F2-DFBA-4C09-B27B-4456D8D5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95775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Read-only source heuristic plus imported dynamic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9839B8-E750-496E-B6E2-EE0088E1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9577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new_package_evidence_report.json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2EFAE1-FDBE-4C68-A69F-EDAD9932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Local LLM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F84497-F418-4AF2-A29D-16745E69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00625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Qwen2.5 1.5B Instruct in Colab, no API key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CC8D9C-FE02-4EEF-A302-3184E964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0062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two bounded review JSON files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96805F-B76D-4274-B80E-180952DB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534025"/>
            <a:ext cx="98869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0"/>
          </a:solidFill>
          <a:ln xmlns:a="http://schemas.openxmlformats.org/drawingml/2006/main" w="9525">
            <a:solidFill>
              <a:srgbClr val="E3B9A4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Important distinction: the 140-feature XGBoost probability and the read-only source scanner heuristic are separate measures.</a:t>
            </a:r>
          </a:p>
        </p:txBody>
      </p:sp>
    </p:spTree>
    <p:extLst>
      <p:ext uri="{BB962C8B-B14F-4D97-AF65-F5344CB8AC3E}">
        <p14:creationId xmlns:p14="http://schemas.microsoft.com/office/powerpoint/2010/main" val="11500756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45766F-4199-4712-9D10-A3185FB8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27EF3-7000-47D1-9B5F-B06AA648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8F598-2946-4E63-80A9-350D3DDE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The combined random split is strong, while transfer between ecosystems loses substantial F1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497DB-B6D1-4454-A131-786507C8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76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1CE47-F6CC-4F73-80DB-1F93FBC4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95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 Based Detection of Malicious Open 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C9003-33B6-4146-8AE1-96B0FA94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Experiment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CACD3-0AE8-42C2-81ED-FC761E08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4287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7E225-4435-4DE8-A80B-EC3A15F0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287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BEEB4-57F0-4311-BDCD-448D69C4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287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8A383-7A31-4264-B4EA-CAE1423C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4287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BAF76-9FD0-42BF-B8D3-D041EBB3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287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ROC AUC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2C8F7-D427-4664-B718-ABFEF637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812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XGBoost random split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3DF940-B848-4978-811B-A2D1AFF2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9812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0.9691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CAAA29-E1F6-434D-8B16-1CF2B95B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812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0.9091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33E6D-45B0-482A-B214-52289F82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812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0.7692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21ADF7-42D5-448D-9F4F-6503D256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9812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0.8333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69A691-CEDF-4D02-B8E8-1D709FA7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812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0.9802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AE9F38-F2E1-4BFC-B9C8-AD079C3F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336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NPM only test subset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4BE6D7-8320-4460-A4A0-D1CBC3E9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5336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0.9784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EC765D-6F4E-464B-8CB5-706D3DDE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336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0.9286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1C0D74-6621-43D1-89B9-2C9015E5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336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0.8125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F63573-C5F0-482C-8BAC-D88F9F71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336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0.8667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654C77-5CD4-42F1-B018-834ABA2B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336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0.9952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46BC3B-7754-4995-9AA8-E844287D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861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PyPI only test subset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C668C0-1D89-4B53-A5EE-F9D04506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0861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0.9606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12C73F-4075-4D45-BDFA-885C2829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861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0.8947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2770FB-158D-495A-BF13-BFBE8C09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861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0.7391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15EB2C-5D47-4366-A474-14F92D6B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861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0.8095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F7BF90-39E3-48B4-BB51-C6351010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861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0.9703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2F1B62-4176-48E8-B2DC-5C3ECF8F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 ecosystem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2C95A5-AEB1-44B8-9513-5ECBCE07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57625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ecosystem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EF29A4-AF6F-4206-8193-447551DA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857625"/>
            <a:ext cx="1381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3E8A8E-5BA4-4A8D-A435-B39EBC9F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1381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ROC AUC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EFDF57-89F3-4709-A951-351C0190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57625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4622F7-55C8-4754-87E8-272F10BD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91025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NPM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ED6BEB-BB0F-4CF2-A667-9C059A94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91025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PyPI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A74FBF-80AE-479A-B964-6A3DF59E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391025"/>
            <a:ext cx="1381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0.4962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DC48A2-474A-40AD-ADBF-F8161366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91025"/>
            <a:ext cx="1381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0.7354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F2DBA5-DEE3-46FD-B480-BFBA08D5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91025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Transfer performance drops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96C873-9683-480D-AC1C-18E48E91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24425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PyPI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BC6CA6-9004-459C-8417-FBE2AA4C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24425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NPM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49CE98-ACD9-46AE-8DA7-9560A119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24425"/>
            <a:ext cx="1381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0.2892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279CAB-D4E7-4E3A-9455-3A3E70EF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24425"/>
            <a:ext cx="1381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0.7893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89AC09-2BA9-43BC-830F-84194124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24425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Reverse transfer drops further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514A0C-AA4F-48BF-810C-8B57CD23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75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Main finding: a high random-split score does not demonstrate reliable static generalization across both package ecosystems.</a:t>
            </a:r>
          </a:p>
        </p:txBody>
      </p:sp>
    </p:spTree>
    <p:extLst>
      <p:ext uri="{BB962C8B-B14F-4D97-AF65-F5344CB8AC3E}">
        <p14:creationId xmlns:p14="http://schemas.microsoft.com/office/powerpoint/2010/main" val="19880110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9C5496-5E84-47CC-96EF-1D69C8DF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676E1-944A-4288-90A0-8757F873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Evidence and Triage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AD74E-8BF2-4182-A35E-8A3289C8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Two known benign packages demonstrate the value of contextual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72628-7379-4297-BE44-3768DBBB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76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371B5-7315-4A0D-817C-10C58E92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95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 Based Detection of Malicious Open 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B9E07-851A-4F86-97BC-36ECF6B8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Package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C841C-9F04-47E0-8118-5BD14088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76375"/>
            <a:ext cx="1762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Static heuristic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FC873-C6ED-484A-9295-C98F0A48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76375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Dynamic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2FF57-7775-413C-9249-91B0BBC6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76375"/>
            <a:ext cx="1381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Fused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DF342-98D8-4882-B439-12A2DE6C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76375"/>
            <a:ext cx="3190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Triage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043B7-8118-4DF7-8AC7-AF314ACD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requests 2.32.3 PyPI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4CBE2-4A8B-4B32-A409-08C393DA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43125"/>
            <a:ext cx="1762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6178B-4FC1-49B3-8512-5BCAE3AE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43125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3C3375-1BA1-46A9-8F10-59BE6EAE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3125"/>
            <a:ext cx="1381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0.325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6E492-6665-470B-A500-A59CEAFC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43125"/>
            <a:ext cx="3190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Human review for ambiguous fused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282C71-67C7-4279-B2FE-68B75557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lodash 4.17.21 NPM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E693C3-0707-40DE-A8EA-9773F893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09875"/>
            <a:ext cx="1762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0.22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EDA2EA-BDC4-45E2-9EFD-C62DEA81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9875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0.08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F086CC-F864-49A2-ACAE-FC3E523C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9875"/>
            <a:ext cx="1381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0.150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A2ABDD-9E09-43EC-9EF6-A28C3BF2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9875"/>
            <a:ext cx="3190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Record multimodal low 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56FB83-C866-42C8-BB5B-53B5AF79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52825"/>
            <a:ext cx="142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5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requests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360ABF-8A09-4916-88E2-331498CB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90975"/>
            <a:ext cx="45243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The controlled experiment intentionally made an HTTPS request. Network activity is expected for an HTTP client, so the policy sends it to review instead of blocking it.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D50559-6F22-49CB-8C36-3C24E807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52825"/>
            <a:ext cx="142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5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lodash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32A995-AD9E-431A-A915-50EA9936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90975"/>
            <a:ext cx="45243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 traced network connection or install hook appeared in the tested path. The LLM remained conservative, so its explanation does not override the low-risk triage action.</a:t>
            </a:r>
          </a:p>
        </p:txBody>
      </p:sp>
    </p:spTree>
    <p:extLst>
      <p:ext uri="{BB962C8B-B14F-4D97-AF65-F5344CB8AC3E}">
        <p14:creationId xmlns:p14="http://schemas.microsoft.com/office/powerpoint/2010/main" val="13852520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4E2EE1-CEA6-49EC-BEA3-DC000C18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E34E7-5EF4-4553-B812-A22341D4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B2AD8-A1C1-4F30-954D-2DC47A8F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The prototype makes conservative claims and keeps decision uncertainty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C0D86-9E00-4157-895C-C406C5F6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76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8FFEE-839F-4970-A4AA-258C1B06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95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 Based Detection of Malicious Open 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7D06E-CACE-45ED-BCD9-72054BA7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Limited dynamic coverage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1A08E-4E38-4CA1-9558-5CBE1FC6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71600"/>
            <a:ext cx="728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Only known benign requests and lodash packages were traced. The experiment validates workflow, not malicious-package detection accuracy.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3E1C5-2F99-4D3F-BF2D-D03A8D07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Trace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1F20B-6A7B-4804-8B80-D477D9FA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38375"/>
            <a:ext cx="728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 clean trace cannot rule out delayed, environment-gated, dependency-driven, or untested behavior.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2E219-9F62-4B4F-913E-3C0A3128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Heuristic source scan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9D3B0-848E-4722-84E5-847B66FD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05150"/>
            <a:ext cx="728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Simple static rules create false positives for legitimate network, packaging, and compatibility code.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0B9A3-64FC-4CBC-BFFF-8279F67C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LLM reliability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371910-72A8-45D4-A8AF-144B94EC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71925"/>
            <a:ext cx="728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Qwen provides reviewer assistance without a measured accuracy claim. Its medium lodash assessment shows why it cannot override triage.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706C0-C0B4-4FAB-9508-1A6A6BC0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Evaluation 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67BAB-E43A-49EC-AC45-14A5961F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38700"/>
            <a:ext cx="728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Dataset split and transfer scores support research comparison, not a production deployment claim.</a:t>
            </a:r>
          </a:p>
        </p:txBody>
      </p:sp>
    </p:spTree>
    <p:extLst>
      <p:ext uri="{BB962C8B-B14F-4D97-AF65-F5344CB8AC3E}">
        <p14:creationId xmlns:p14="http://schemas.microsoft.com/office/powerpoint/2010/main" val="13946337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C7487-5E39-4D80-AF47-DA8041D4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88C15-C227-4247-9B07-18DDA48A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Scope of Improvements Within Two Weeks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48608-5575-4D1B-B9D8-A8E2903B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The next iteration will increase evidence coverage and make the evaluation more realistic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54099-A5BB-49C0-8F1C-FAAFAF27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76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2219A-896C-4397-9C7C-0C14C76C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95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 Based Detection of Malicious Open 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CBD37-40AC-4FEE-84E7-3584DC1F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Days 1 to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7736A-5D7B-4BE7-89ED-E92295A6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485900"/>
            <a:ext cx="762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Collect safe, version-pinned traces for at least 10 known benign npm and PyPI packages in the isolated VM. Record trace duration and package version.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28B0E-CCEF-4DAB-9F6B-6AED9940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222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8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Days 5 to 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0088C-9D88-4B66-8942-5EE49C72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43175"/>
            <a:ext cx="762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Add trace-derived features such as process count, outbound connection count, sensitive-path access, and installation-hook presence. Compare static-only and triage metrics.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A0CB16-AC82-4A01-9861-64F5F164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Days 9 to 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03503-816B-4B9D-B2D0-31FD1F61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00450"/>
            <a:ext cx="762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Run time-aware or campaign-aware splits where available. Report per-ecosystem referral rate, missing trace rate, and review workload.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F9EE8-83FE-41FE-825F-9093E838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Days 12 to 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F25E5-20A8-44E5-9AE0-73FB14B7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57725"/>
            <a:ext cx="762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Improve the bounded LLM prompt with evidence citations and a required false-positive section. Review outputs manually against the triage decision.</a:t>
            </a:r>
          </a:p>
        </p:txBody>
      </p:sp>
    </p:spTree>
    <p:extLst>
      <p:ext uri="{BB962C8B-B14F-4D97-AF65-F5344CB8AC3E}">
        <p14:creationId xmlns:p14="http://schemas.microsoft.com/office/powerpoint/2010/main" val="8020767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A91B87-FD36-42BE-8198-4CAE8DA8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2F15A-14CE-4DCC-9AC2-55369244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Source Code and Colab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5C0A5-35BE-45CC-8B1A-5BCA4C86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The submission contains the runnable code and the all-in-one Colab bundle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6C4C5-6F80-4C42-AF6A-141521AC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76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40D0C-1041-4771-9EE4-1644D302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95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 Based Detection of Malicious Open 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2935A-8C93-45B9-A34C-A2C5239F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Included source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D9C68-ECB8-45E8-858B-B1ECE92A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9775"/>
            <a:ext cx="7715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 algn="l">
              <a:spcAft>
                <a:spcPts val="900"/>
              </a:spcAft>
              <a:buChar char="•"/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01_code/ contains every Python module, test, and notebook</a:t>
            </a:r>
          </a:p>
          <a:p xmlns:a="http://schemas.openxmlformats.org/drawingml/2006/main">
            <a:pPr marL="228600" indent="-101600" algn="l">
              <a:spcAft>
                <a:spcPts val="900"/>
              </a:spcAft>
              <a:buChar char="•"/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01_code/notebooks/RUN_ALL_IN_ONE_LLM_COLAB.ipynb runs both LLM reviews</a:t>
            </a:r>
          </a:p>
          <a:p xmlns:a="http://schemas.openxmlformats.org/drawingml/2006/main">
            <a:pPr marL="228600" indent="-101600" algn="l">
              <a:spcAft>
                <a:spcPts val="900"/>
              </a:spcAft>
              <a:buChar char="•"/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01_code/ai_package_detection_ALL_IN_ONE_COLAB.zip is the single-file Colab bundle</a:t>
            </a:r>
          </a:p>
          <a:p xmlns:a="http://schemas.openxmlformats.org/drawingml/2006/main">
            <a:pPr marL="228600" indent="-101600" algn="l">
              <a:spcAft>
                <a:spcPts val="900"/>
              </a:spcAft>
              <a:buChar char="•"/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03_dataset/Labelled_Dataset.csv is the released static-feature dataset copy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9D0FF-3BEF-4D3E-AFA7-455236F3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4668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Link for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D952F-2439-4E42-B096-42B29187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81200"/>
            <a:ext cx="2362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0"/>
          </a:solidFill>
          <a:ln xmlns:a="http://schemas.openxmlformats.org/drawingml/2006/main" w="9525">
            <a:solidFill>
              <a:srgbClr val="E3B9A4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Paste your GitHub repository or shared Google Colab URL here before presenting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5EF68-CB6F-4791-BD83-EACB38A5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718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16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Why no fixed public URL appears here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65AA1-00C2-45D6-8A1C-B17114C5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33800"/>
            <a:ext cx="2362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 valid URL requires your own GitHub account or Colab share setting. The runnable files are already included in the submission folder.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F50E6-CABF-4535-885B-7486AF88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9906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Colab workflow: upload the all-in-one ZIP, extract it, install requirements-colab-llm.txt, then run run_bundled_llm_reviews.py.</a:t>
            </a:r>
          </a:p>
        </p:txBody>
      </p:sp>
    </p:spTree>
    <p:extLst>
      <p:ext uri="{BB962C8B-B14F-4D97-AF65-F5344CB8AC3E}">
        <p14:creationId xmlns:p14="http://schemas.microsoft.com/office/powerpoint/2010/main" val="1671515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2026-09-18T15:35:21.2800000Z</dcterms:created>
  <dcterms:modified xsi:type="dcterms:W3CDTF">2026-09-18T15:35:21.2800000Z</dcterms:modified>
</coreProperties>
</file>