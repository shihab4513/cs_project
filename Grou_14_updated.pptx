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1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01_code/README.md. Project title and research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01_code/README.md. Objectives reflect the project scope and do not claim hybrid detection is novel.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01_code/README.md; RESEARCH_PROTOCOL.md. Method files include run_project.py, scan_source.py, convert_strace.py, fuse_source_trace.py, and run_local_llm_review.py.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01_code/README.md; evaluate_label_efficiency.py; notebooks/RUN_ALL_IN_ONE_LLM_COLAB.ipynb; 03_dataset/Labelled_Dataset.csv. The inspected external folder has no saved label-efficiency output CSV/JSON.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02_results/01_static_baseline_and_transfer/content/outputs/paper_baseline/static/static_metrics.json and static_transfer_metrics.json. Values use XGBoost and the saved seed/split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02_results/02_vm_traces_and_fusion/requests_evidence/new_package_evidence_report.json; lodash_evidence/new_package_evidence_report.json; 02_results/03_llm_reviews/*.json. The known benign examples validate workflow and triage behavior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README safety and scientific scope; evidence reports; LLM review limitations. These limitations are material to interpreting the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Two-week plan derived from the project's stated limitations and the unexecuted label-efficiency component.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 location: 01_code and included all-in-one Colab ZIP. Before presenting, the student should publish 01_code to a GitHub repository or share the Colab notebook and paste the resulting URL in the orange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ObWtipmWAnEzEAdPi1rndvd6gZ-6F6ve?usp=sharing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olab.research.google.com/drive/1QOomTzbfqRcaNyQJcB3TXh4dF9bcPxPE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88E667B-63D8-46C8-AB59-40ABAB3AE0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38125"/>
          </a:xfrm>
          <a:prstGeom prst="rect">
            <a:avLst/>
          </a:prstGeom>
          <a:solidFill>
            <a:srgbClr val="12334A"/>
          </a:solidFill>
          <a:ln w="0">
            <a:noFill/>
          </a:ln>
        </p:spPr>
        <p:txBody>
          <a:bodyPr anchor="ctr">
            <a:normAutofit fontScale="62500" lnSpcReduction="20000"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E45BBF-58EF-4A20-94C5-5C3C49AAE32C}"/>
              </a:ext>
            </a:extLst>
          </p:cNvPr>
          <p:cNvSpPr>
            <a:spLocks noGrp="1"/>
          </p:cNvSpPr>
          <p:nvPr/>
        </p:nvSpPr>
        <p:spPr>
          <a:xfrm>
            <a:off x="742950" y="1333500"/>
            <a:ext cx="6572250" cy="1123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399"/>
          </a:bodyPr>
          <a:lstStyle/>
          <a:p>
            <a:pPr algn="l">
              <a:defRPr sz="3225" b="1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34A"/>
                </a:solidFill>
                <a:latin typeface="Arial"/>
                <a:ea typeface="Arial"/>
                <a:cs typeface="Arial"/>
              </a:rPr>
              <a:t>AI-Based Detection of</a:t>
            </a:r>
          </a:p>
          <a:p>
            <a:pPr algn="l">
              <a:defRPr sz="3225" b="1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34A"/>
                </a:solidFill>
                <a:latin typeface="Arial"/>
                <a:ea typeface="Arial"/>
                <a:cs typeface="Arial"/>
              </a:rPr>
              <a:t>Malicious Open-Source Packages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398E02-1EE8-4751-825F-D50849E41F4E}"/>
              </a:ext>
            </a:extLst>
          </p:cNvPr>
          <p:cNvSpPr>
            <a:spLocks noGrp="1"/>
          </p:cNvSpPr>
          <p:nvPr/>
        </p:nvSpPr>
        <p:spPr>
          <a:xfrm>
            <a:off x="781050" y="2762250"/>
            <a:ext cx="638175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2E8B8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E8B86"/>
                </a:solidFill>
                <a:latin typeface="Arial"/>
                <a:ea typeface="Arial"/>
                <a:cs typeface="Arial"/>
              </a:rPr>
              <a:t>Static transfer evaluation, imported VM traces, evidence triage, and bounded local LLM review for npm and PyPI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1FD038-EA35-4642-A6DB-409AE22E8416}"/>
              </a:ext>
            </a:extLst>
          </p:cNvPr>
          <p:cNvSpPr>
            <a:spLocks noGrp="1"/>
          </p:cNvSpPr>
          <p:nvPr/>
        </p:nvSpPr>
        <p:spPr>
          <a:xfrm>
            <a:off x="781050" y="3733800"/>
            <a:ext cx="2762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 lnSpcReduction="20000"/>
          </a:bodyPr>
          <a:lstStyle/>
          <a:p>
            <a:pPr algn="l">
              <a:defRPr sz="1200" b="1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5B2B"/>
                </a:solidFill>
                <a:latin typeface="Arial"/>
                <a:ea typeface="Arial"/>
                <a:cs typeface="Arial"/>
              </a:rPr>
              <a:t>Project presentation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6FBB31-244F-4984-9E77-BE13C4207808}"/>
              </a:ext>
            </a:extLst>
          </p:cNvPr>
          <p:cNvSpPr>
            <a:spLocks noGrp="1"/>
          </p:cNvSpPr>
          <p:nvPr/>
        </p:nvSpPr>
        <p:spPr>
          <a:xfrm>
            <a:off x="781050" y="4114800"/>
            <a:ext cx="6334125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The project studies whether a static detector trained in one package registry generalizes to another, then uses evidence-aware triage for uncertain cases.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4B40CA-380A-45CB-A017-DE2A32DAB2A0}"/>
              </a:ext>
            </a:extLst>
          </p:cNvPr>
          <p:cNvSpPr>
            <a:spLocks noGrp="1"/>
          </p:cNvSpPr>
          <p:nvPr/>
        </p:nvSpPr>
        <p:spPr>
          <a:xfrm>
            <a:off x="8096250" y="1571625"/>
            <a:ext cx="2762250" cy="457200"/>
          </a:xfrm>
          <a:prstGeom prst="rect">
            <a:avLst/>
          </a:prstGeom>
          <a:solidFill>
            <a:srgbClr val="2774AE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STATIC 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333243-67F5-401A-8A3C-FCDCA641DE13}"/>
              </a:ext>
            </a:extLst>
          </p:cNvPr>
          <p:cNvSpPr>
            <a:spLocks noGrp="1"/>
          </p:cNvSpPr>
          <p:nvPr/>
        </p:nvSpPr>
        <p:spPr>
          <a:xfrm>
            <a:off x="8096250" y="2247900"/>
            <a:ext cx="2762250" cy="457200"/>
          </a:xfrm>
          <a:prstGeom prst="rect">
            <a:avLst/>
          </a:prstGeom>
          <a:solidFill>
            <a:srgbClr val="2E8B86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IMPORTED VM TRACE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207ED7-2B67-46FB-AF99-322EF503058E}"/>
              </a:ext>
            </a:extLst>
          </p:cNvPr>
          <p:cNvSpPr>
            <a:spLocks noGrp="1"/>
          </p:cNvSpPr>
          <p:nvPr/>
        </p:nvSpPr>
        <p:spPr>
          <a:xfrm>
            <a:off x="8096250" y="2924175"/>
            <a:ext cx="2762250" cy="457200"/>
          </a:xfrm>
          <a:prstGeom prst="rect">
            <a:avLst/>
          </a:prstGeom>
          <a:solidFill>
            <a:srgbClr val="C95B2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LLM REVIEW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D8C26D-7A0A-4FDB-A949-BAB464F0ADBC}"/>
              </a:ext>
            </a:extLst>
          </p:cNvPr>
          <p:cNvSpPr>
            <a:spLocks noGrp="1"/>
          </p:cNvSpPr>
          <p:nvPr/>
        </p:nvSpPr>
        <p:spPr>
          <a:xfrm>
            <a:off x="7953375" y="3876675"/>
            <a:ext cx="3048000" cy="895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Evidence provenance and human review stay visible in the final decision.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0BA24E-5911-5D15-BD26-AED48C50D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0" y="4991100"/>
            <a:ext cx="5480779" cy="7681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1B0328-A3BE-5FE7-7305-44D7E2D2C1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364" y="5971067"/>
            <a:ext cx="3517697" cy="29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084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07C314B-2A3A-44DB-8286-F2B621B0BB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2334A"/>
          </a:solidFill>
          <a:ln w="0">
            <a:noFill/>
          </a:ln>
        </p:spPr>
        <p:txBody>
          <a:bodyPr anchor="ctr">
            <a:normAutofit fontScale="32500" lnSpcReduction="20000"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6B0B38-C1FE-4A63-B527-83DF5601156C}"/>
              </a:ext>
            </a:extLst>
          </p:cNvPr>
          <p:cNvSpPr>
            <a:spLocks noGrp="1"/>
          </p:cNvSpPr>
          <p:nvPr/>
        </p:nvSpPr>
        <p:spPr>
          <a:xfrm>
            <a:off x="704850" y="409575"/>
            <a:ext cx="9906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597" lnSpcReduction="10000"/>
          </a:bodyPr>
          <a:lstStyle/>
          <a:p>
            <a:pPr algn="l">
              <a:defRPr sz="2325" b="1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34A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51EA13-8EA7-47DD-8D7E-9A64C63DD70C}"/>
              </a:ext>
            </a:extLst>
          </p:cNvPr>
          <p:cNvSpPr>
            <a:spLocks noGrp="1"/>
          </p:cNvSpPr>
          <p:nvPr/>
        </p:nvSpPr>
        <p:spPr>
          <a:xfrm>
            <a:off x="723900" y="866775"/>
            <a:ext cx="98583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974"/>
                </a:solidFill>
                <a:latin typeface="Arial"/>
                <a:ea typeface="Arial"/>
                <a:cs typeface="Arial"/>
              </a:rPr>
              <a:t>The project measures generalization and makes uncertain cases auditable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4D8AC0-C46F-4005-A08E-E26FD628ED52}"/>
              </a:ext>
            </a:extLst>
          </p:cNvPr>
          <p:cNvSpPr>
            <a:spLocks noGrp="1"/>
          </p:cNvSpPr>
          <p:nvPr/>
        </p:nvSpPr>
        <p:spPr>
          <a:xfrm>
            <a:off x="10896600" y="457200"/>
            <a:ext cx="6096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917" lnSpcReduction="10000"/>
          </a:bodyPr>
          <a:lstStyle/>
          <a:p>
            <a:pPr algn="r">
              <a:defRPr sz="1200" b="1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74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73DDE1-19C4-47BB-A5B4-AB571450A082}"/>
              </a:ext>
            </a:extLst>
          </p:cNvPr>
          <p:cNvSpPr>
            <a:spLocks noGrp="1"/>
          </p:cNvSpPr>
          <p:nvPr/>
        </p:nvSpPr>
        <p:spPr>
          <a:xfrm>
            <a:off x="704850" y="6477000"/>
            <a:ext cx="6858000" cy="142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2500" lnSpcReduction="20000"/>
          </a:bodyPr>
          <a:lstStyle/>
          <a:p>
            <a:pPr algn="l">
              <a:defRPr sz="750" b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AI-Based Detection of Malicious Open-Source Packages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468886-3CBC-49AA-97E3-5BF562658B89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390525" cy="390525"/>
          </a:xfrm>
          <a:prstGeom prst="rect">
            <a:avLst/>
          </a:prstGeom>
          <a:solidFill>
            <a:srgbClr val="2774AE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94050F-2713-4DA0-9696-47CF908E4BB4}"/>
              </a:ext>
            </a:extLst>
          </p:cNvPr>
          <p:cNvSpPr>
            <a:spLocks noGrp="1"/>
          </p:cNvSpPr>
          <p:nvPr/>
        </p:nvSpPr>
        <p:spPr>
          <a:xfrm>
            <a:off x="1428750" y="1419225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167" lnSpcReduction="20000"/>
          </a:bodyPr>
          <a:lstStyle/>
          <a:p>
            <a:pPr algn="l">
              <a:defRPr sz="1500" b="1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34A"/>
                </a:solidFill>
                <a:latin typeface="Arial"/>
                <a:ea typeface="Arial"/>
                <a:cs typeface="Arial"/>
              </a:rPr>
              <a:t>Cross-ecosystem detection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7DAA9B-48C5-430C-9D3B-675EC3446051}"/>
              </a:ext>
            </a:extLst>
          </p:cNvPr>
          <p:cNvSpPr>
            <a:spLocks noGrp="1"/>
          </p:cNvSpPr>
          <p:nvPr/>
        </p:nvSpPr>
        <p:spPr>
          <a:xfrm>
            <a:off x="1428750" y="1724025"/>
            <a:ext cx="876300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319"/>
          </a:bodyPr>
          <a:lstStyle/>
          <a:p>
            <a:pPr algn="l"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Train a static classifier using the released npm and PyPI dataset, then report transfer performance in both directions.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BA0DF3-4096-44FC-85F1-C4182C0ACB9A}"/>
              </a:ext>
            </a:extLst>
          </p:cNvPr>
          <p:cNvSpPr>
            <a:spLocks noGrp="1"/>
          </p:cNvSpPr>
          <p:nvPr/>
        </p:nvSpPr>
        <p:spPr>
          <a:xfrm>
            <a:off x="781050" y="2533650"/>
            <a:ext cx="390525" cy="390525"/>
          </a:xfrm>
          <a:prstGeom prst="rect">
            <a:avLst/>
          </a:prstGeom>
          <a:solidFill>
            <a:srgbClr val="2774AE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9E559C-4271-4C09-896A-30B09577EE11}"/>
              </a:ext>
            </a:extLst>
          </p:cNvPr>
          <p:cNvSpPr>
            <a:spLocks noGrp="1"/>
          </p:cNvSpPr>
          <p:nvPr/>
        </p:nvSpPr>
        <p:spPr>
          <a:xfrm>
            <a:off x="1428750" y="2524125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167" lnSpcReduction="20000"/>
          </a:bodyPr>
          <a:lstStyle/>
          <a:p>
            <a:pPr algn="l">
              <a:defRPr sz="1500" b="1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34A"/>
                </a:solidFill>
                <a:latin typeface="Arial"/>
                <a:ea typeface="Arial"/>
                <a:cs typeface="Arial"/>
              </a:rPr>
              <a:t>Target-label adaptation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7D39B-A75F-46B2-948A-0B6B4D847670}"/>
              </a:ext>
            </a:extLst>
          </p:cNvPr>
          <p:cNvSpPr>
            <a:spLocks noGrp="1"/>
          </p:cNvSpPr>
          <p:nvPr/>
        </p:nvSpPr>
        <p:spPr>
          <a:xfrm>
            <a:off x="1428750" y="2828925"/>
            <a:ext cx="876300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69"/>
          </a:bodyPr>
          <a:lstStyle/>
          <a:p>
            <a:pPr algn="l"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Measure how labelled target-ecosystem packages can support adaptation without hiding the original transfer failure.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D3E075-748A-40CB-A591-CCE6BAB75DBF}"/>
              </a:ext>
            </a:extLst>
          </p:cNvPr>
          <p:cNvSpPr>
            <a:spLocks noGrp="1"/>
          </p:cNvSpPr>
          <p:nvPr/>
        </p:nvSpPr>
        <p:spPr>
          <a:xfrm>
            <a:off x="781050" y="3638550"/>
            <a:ext cx="390525" cy="390525"/>
          </a:xfrm>
          <a:prstGeom prst="rect">
            <a:avLst/>
          </a:prstGeom>
          <a:solidFill>
            <a:srgbClr val="2E8B86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8E9C2D-DDAF-417E-8EBB-771A84769402}"/>
              </a:ext>
            </a:extLst>
          </p:cNvPr>
          <p:cNvSpPr>
            <a:spLocks noGrp="1"/>
          </p:cNvSpPr>
          <p:nvPr/>
        </p:nvSpPr>
        <p:spPr>
          <a:xfrm>
            <a:off x="1428750" y="3629025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167" lnSpcReduction="20000"/>
          </a:bodyPr>
          <a:lstStyle/>
          <a:p>
            <a:pPr algn="l">
              <a:defRPr sz="1500" b="1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34A"/>
                </a:solidFill>
                <a:latin typeface="Arial"/>
                <a:ea typeface="Arial"/>
                <a:cs typeface="Arial"/>
              </a:rPr>
              <a:t>Evidence-aware triage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98CD3B-1CAE-4AE8-8A1E-932FF5645080}"/>
              </a:ext>
            </a:extLst>
          </p:cNvPr>
          <p:cNvSpPr>
            <a:spLocks noGrp="1"/>
          </p:cNvSpPr>
          <p:nvPr/>
        </p:nvSpPr>
        <p:spPr>
          <a:xfrm>
            <a:off x="1428750" y="3933825"/>
            <a:ext cx="876300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797"/>
          </a:bodyPr>
          <a:lstStyle/>
          <a:p>
            <a:pPr algn="l"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Combine read-only source signals with telemetry imported from an isolated VM and route uncertain cases to review.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560082-E1A7-4F61-BCBA-99AE651ED4E8}"/>
              </a:ext>
            </a:extLst>
          </p:cNvPr>
          <p:cNvSpPr>
            <a:spLocks noGrp="1"/>
          </p:cNvSpPr>
          <p:nvPr/>
        </p:nvSpPr>
        <p:spPr>
          <a:xfrm>
            <a:off x="781050" y="4743450"/>
            <a:ext cx="390525" cy="390525"/>
          </a:xfrm>
          <a:prstGeom prst="rect">
            <a:avLst/>
          </a:prstGeom>
          <a:solidFill>
            <a:srgbClr val="2774AE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90B03C-4C02-450D-94C6-4CAA04793943}"/>
              </a:ext>
            </a:extLst>
          </p:cNvPr>
          <p:cNvSpPr>
            <a:spLocks noGrp="1"/>
          </p:cNvSpPr>
          <p:nvPr/>
        </p:nvSpPr>
        <p:spPr>
          <a:xfrm>
            <a:off x="1428750" y="4733925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167" lnSpcReduction="20000"/>
          </a:bodyPr>
          <a:lstStyle/>
          <a:p>
            <a:pPr algn="l">
              <a:defRPr sz="1500" b="1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34A"/>
                </a:solidFill>
                <a:latin typeface="Arial"/>
                <a:ea typeface="Arial"/>
                <a:cs typeface="Arial"/>
              </a:rPr>
              <a:t>Bounded LLM assistance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507FFA-2EF6-422B-ACB5-C85DBB244655}"/>
              </a:ext>
            </a:extLst>
          </p:cNvPr>
          <p:cNvSpPr>
            <a:spLocks noGrp="1"/>
          </p:cNvSpPr>
          <p:nvPr/>
        </p:nvSpPr>
        <p:spPr>
          <a:xfrm>
            <a:off x="1428750" y="5038725"/>
            <a:ext cx="876300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Use a local model to explain cited evidence while keeping the decision policy and human review in control.</a:t>
            </a:r>
          </a:p>
        </p:txBody>
      </p:sp>
    </p:spTree>
    <p:extLst>
      <p:ext uri="{BB962C8B-B14F-4D97-AF65-F5344CB8AC3E}">
        <p14:creationId xmlns:p14="http://schemas.microsoft.com/office/powerpoint/2010/main" val="680078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CE20988-D18A-4AFE-8DEC-42DAFB3ED9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2334A"/>
          </a:solidFill>
          <a:ln w="0">
            <a:noFill/>
          </a:ln>
        </p:spPr>
        <p:txBody>
          <a:bodyPr anchor="ctr">
            <a:normAutofit fontScale="32500" lnSpcReduction="20000"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15E39E-10B0-4A53-9979-9E342B2AE00E}"/>
              </a:ext>
            </a:extLst>
          </p:cNvPr>
          <p:cNvSpPr>
            <a:spLocks noGrp="1"/>
          </p:cNvSpPr>
          <p:nvPr/>
        </p:nvSpPr>
        <p:spPr>
          <a:xfrm>
            <a:off x="704850" y="409575"/>
            <a:ext cx="9906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597" lnSpcReduction="10000"/>
          </a:bodyPr>
          <a:lstStyle/>
          <a:p>
            <a:pPr algn="l">
              <a:defRPr sz="2325" b="1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34A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7F4997-233F-406C-8553-33A7B8A26905}"/>
              </a:ext>
            </a:extLst>
          </p:cNvPr>
          <p:cNvSpPr>
            <a:spLocks noGrp="1"/>
          </p:cNvSpPr>
          <p:nvPr/>
        </p:nvSpPr>
        <p:spPr>
          <a:xfrm>
            <a:off x="723900" y="866775"/>
            <a:ext cx="98583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974"/>
                </a:solidFill>
                <a:latin typeface="Arial"/>
                <a:ea typeface="Arial"/>
                <a:cs typeface="Arial"/>
              </a:rPr>
              <a:t>Each stage records evidence and maintains a safety boundary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954A05-01BD-46C0-A941-F4E832C9D1FC}"/>
              </a:ext>
            </a:extLst>
          </p:cNvPr>
          <p:cNvSpPr>
            <a:spLocks noGrp="1"/>
          </p:cNvSpPr>
          <p:nvPr/>
        </p:nvSpPr>
        <p:spPr>
          <a:xfrm>
            <a:off x="10896600" y="457200"/>
            <a:ext cx="6096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917" lnSpcReduction="10000"/>
          </a:bodyPr>
          <a:lstStyle/>
          <a:p>
            <a:pPr algn="r">
              <a:defRPr sz="1200" b="1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74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8E6CB2-5A81-4129-BF96-78DD392D08B2}"/>
              </a:ext>
            </a:extLst>
          </p:cNvPr>
          <p:cNvSpPr>
            <a:spLocks noGrp="1"/>
          </p:cNvSpPr>
          <p:nvPr/>
        </p:nvSpPr>
        <p:spPr>
          <a:xfrm>
            <a:off x="704850" y="6477000"/>
            <a:ext cx="6858000" cy="142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2500" lnSpcReduction="20000"/>
          </a:bodyPr>
          <a:lstStyle/>
          <a:p>
            <a:pPr algn="l">
              <a:defRPr sz="750" b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AI-Based Detection of Malicious Open-Source Packages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2B50F3-6011-4033-B4C8-B1BFA3162556}"/>
              </a:ext>
            </a:extLst>
          </p:cNvPr>
          <p:cNvSpPr>
            <a:spLocks noGrp="1"/>
          </p:cNvSpPr>
          <p:nvPr/>
        </p:nvSpPr>
        <p:spPr>
          <a:xfrm>
            <a:off x="514350" y="1571625"/>
            <a:ext cx="361950" cy="361950"/>
          </a:xfrm>
          <a:prstGeom prst="rect">
            <a:avLst/>
          </a:prstGeom>
          <a:solidFill>
            <a:srgbClr val="2774AE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DD0481-BFEE-45B4-945C-A51D1B2215F8}"/>
              </a:ext>
            </a:extLst>
          </p:cNvPr>
          <p:cNvSpPr>
            <a:spLocks noGrp="1"/>
          </p:cNvSpPr>
          <p:nvPr/>
        </p:nvSpPr>
        <p:spPr>
          <a:xfrm>
            <a:off x="514350" y="2105025"/>
            <a:ext cx="1952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 lnSpcReduction="10000"/>
          </a:bodyPr>
          <a:lstStyle/>
          <a:p>
            <a:pPr algn="ctr">
              <a:defRPr sz="1350" b="1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34A"/>
                </a:solidFill>
                <a:latin typeface="Arial"/>
                <a:ea typeface="Arial"/>
                <a:cs typeface="Arial"/>
              </a:rPr>
              <a:t>Released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718925-FC54-451E-BC4E-3D2E14D80B16}"/>
              </a:ext>
            </a:extLst>
          </p:cNvPr>
          <p:cNvSpPr>
            <a:spLocks noGrp="1"/>
          </p:cNvSpPr>
          <p:nvPr/>
        </p:nvSpPr>
        <p:spPr>
          <a:xfrm>
            <a:off x="514350" y="2533650"/>
            <a:ext cx="1952625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1,940 labelled packages</a:t>
            </a:r>
          </a:p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140 static features</a:t>
            </a:r>
          </a:p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npm and PyPI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BBF5CA-76C1-4A32-812E-6F5C78BFEF37}"/>
              </a:ext>
            </a:extLst>
          </p:cNvPr>
          <p:cNvSpPr>
            <a:spLocks noGrp="1"/>
          </p:cNvSpPr>
          <p:nvPr/>
        </p:nvSpPr>
        <p:spPr>
          <a:xfrm>
            <a:off x="2790825" y="1571625"/>
            <a:ext cx="361950" cy="361950"/>
          </a:xfrm>
          <a:prstGeom prst="rect">
            <a:avLst/>
          </a:prstGeom>
          <a:solidFill>
            <a:srgbClr val="2774AE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0187D9-EA27-4E38-9F79-C7EC0D1D226C}"/>
              </a:ext>
            </a:extLst>
          </p:cNvPr>
          <p:cNvSpPr>
            <a:spLocks noGrp="1"/>
          </p:cNvSpPr>
          <p:nvPr/>
        </p:nvSpPr>
        <p:spPr>
          <a:xfrm>
            <a:off x="2790825" y="2105025"/>
            <a:ext cx="1952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 lnSpcReduction="10000"/>
          </a:bodyPr>
          <a:lstStyle/>
          <a:p>
            <a:pPr algn="ctr">
              <a:defRPr sz="1350" b="1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34A"/>
                </a:solidFill>
                <a:latin typeface="Arial"/>
                <a:ea typeface="Arial"/>
                <a:cs typeface="Arial"/>
              </a:rPr>
              <a:t>Static model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C79E7D-821F-4142-878D-229CAA6FFFD4}"/>
              </a:ext>
            </a:extLst>
          </p:cNvPr>
          <p:cNvSpPr>
            <a:spLocks noGrp="1"/>
          </p:cNvSpPr>
          <p:nvPr/>
        </p:nvSpPr>
        <p:spPr>
          <a:xfrm>
            <a:off x="2790825" y="2533650"/>
            <a:ext cx="1952625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XGBoost baseline</a:t>
            </a:r>
          </a:p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random split and</a:t>
            </a:r>
          </a:p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transfer evaluation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CC6181-73FD-497A-BB51-5F6717EEAA37}"/>
              </a:ext>
            </a:extLst>
          </p:cNvPr>
          <p:cNvSpPr>
            <a:spLocks noGrp="1"/>
          </p:cNvSpPr>
          <p:nvPr/>
        </p:nvSpPr>
        <p:spPr>
          <a:xfrm>
            <a:off x="5067300" y="1571625"/>
            <a:ext cx="361950" cy="361950"/>
          </a:xfrm>
          <a:prstGeom prst="rect">
            <a:avLst/>
          </a:prstGeom>
          <a:solidFill>
            <a:srgbClr val="2774AE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A0A944-D5F0-4CE3-A3A4-7EF7D257371D}"/>
              </a:ext>
            </a:extLst>
          </p:cNvPr>
          <p:cNvSpPr>
            <a:spLocks noGrp="1"/>
          </p:cNvSpPr>
          <p:nvPr/>
        </p:nvSpPr>
        <p:spPr>
          <a:xfrm>
            <a:off x="5067300" y="2105025"/>
            <a:ext cx="1952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 lnSpcReduction="10000"/>
          </a:bodyPr>
          <a:lstStyle/>
          <a:p>
            <a:pPr algn="ctr">
              <a:defRPr sz="1350" b="1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34A"/>
                </a:solidFill>
                <a:latin typeface="Arial"/>
                <a:ea typeface="Arial"/>
                <a:cs typeface="Arial"/>
              </a:rPr>
              <a:t>Source inspection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09AFCD-D04E-4D03-965E-9C34DA14624C}"/>
              </a:ext>
            </a:extLst>
          </p:cNvPr>
          <p:cNvSpPr>
            <a:spLocks noGrp="1"/>
          </p:cNvSpPr>
          <p:nvPr/>
        </p:nvSpPr>
        <p:spPr>
          <a:xfrm>
            <a:off x="5067300" y="2533650"/>
            <a:ext cx="1952625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Unpacked source only</a:t>
            </a:r>
          </a:p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 installation or</a:t>
            </a:r>
          </a:p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code execution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332B46-2416-4818-8670-E4AFDEA92AF0}"/>
              </a:ext>
            </a:extLst>
          </p:cNvPr>
          <p:cNvSpPr>
            <a:spLocks noGrp="1"/>
          </p:cNvSpPr>
          <p:nvPr/>
        </p:nvSpPr>
        <p:spPr>
          <a:xfrm>
            <a:off x="7343775" y="1571625"/>
            <a:ext cx="361950" cy="361950"/>
          </a:xfrm>
          <a:prstGeom prst="rect">
            <a:avLst/>
          </a:prstGeom>
          <a:solidFill>
            <a:srgbClr val="2E8B86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7E00F0-88A7-4B4E-B47C-3C22BCB3E61E}"/>
              </a:ext>
            </a:extLst>
          </p:cNvPr>
          <p:cNvSpPr>
            <a:spLocks noGrp="1"/>
          </p:cNvSpPr>
          <p:nvPr/>
        </p:nvSpPr>
        <p:spPr>
          <a:xfrm>
            <a:off x="7343775" y="2105025"/>
            <a:ext cx="1952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 lnSpcReduction="10000"/>
          </a:bodyPr>
          <a:lstStyle/>
          <a:p>
            <a:pPr algn="ctr">
              <a:defRPr sz="1350" b="1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34A"/>
                </a:solidFill>
                <a:latin typeface="Arial"/>
                <a:ea typeface="Arial"/>
                <a:cs typeface="Arial"/>
              </a:rPr>
              <a:t>VM trace import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E93509-0503-4ADE-B3F4-F288273CC2BB}"/>
              </a:ext>
            </a:extLst>
          </p:cNvPr>
          <p:cNvSpPr>
            <a:spLocks noGrp="1"/>
          </p:cNvSpPr>
          <p:nvPr/>
        </p:nvSpPr>
        <p:spPr>
          <a:xfrm>
            <a:off x="7343775" y="2533650"/>
            <a:ext cx="1952625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Linux Mint strace</a:t>
            </a:r>
          </a:p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collected separately</a:t>
            </a:r>
          </a:p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then read as JSON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F64852-89F9-405F-A1B9-0FC54CF4825E}"/>
              </a:ext>
            </a:extLst>
          </p:cNvPr>
          <p:cNvSpPr>
            <a:spLocks noGrp="1"/>
          </p:cNvSpPr>
          <p:nvPr/>
        </p:nvSpPr>
        <p:spPr>
          <a:xfrm>
            <a:off x="9620250" y="1571625"/>
            <a:ext cx="361950" cy="361950"/>
          </a:xfrm>
          <a:prstGeom prst="rect">
            <a:avLst/>
          </a:prstGeom>
          <a:solidFill>
            <a:srgbClr val="2774AE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870B25-EA16-4A3C-860F-17C607624A82}"/>
              </a:ext>
            </a:extLst>
          </p:cNvPr>
          <p:cNvSpPr>
            <a:spLocks noGrp="1"/>
          </p:cNvSpPr>
          <p:nvPr/>
        </p:nvSpPr>
        <p:spPr>
          <a:xfrm>
            <a:off x="9620250" y="2105025"/>
            <a:ext cx="1952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 lnSpcReduction="10000"/>
          </a:bodyPr>
          <a:lstStyle/>
          <a:p>
            <a:pPr algn="ctr">
              <a:defRPr sz="1350" b="1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34A"/>
                </a:solidFill>
                <a:latin typeface="Arial"/>
                <a:ea typeface="Arial"/>
                <a:cs typeface="Arial"/>
              </a:rPr>
              <a:t>Triage and review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FD7625-A90C-424A-8511-88C61F98DCCE}"/>
              </a:ext>
            </a:extLst>
          </p:cNvPr>
          <p:cNvSpPr>
            <a:spLocks noGrp="1"/>
          </p:cNvSpPr>
          <p:nvPr/>
        </p:nvSpPr>
        <p:spPr>
          <a:xfrm>
            <a:off x="9620250" y="2533650"/>
            <a:ext cx="1952625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Fused evidence action</a:t>
            </a:r>
          </a:p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Qwen explanation</a:t>
            </a:r>
          </a:p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human review band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CBAF8E-AC33-4B93-97FC-55A11105677C}"/>
              </a:ext>
            </a:extLst>
          </p:cNvPr>
          <p:cNvSpPr>
            <a:spLocks noGrp="1"/>
          </p:cNvSpPr>
          <p:nvPr/>
        </p:nvSpPr>
        <p:spPr>
          <a:xfrm>
            <a:off x="876300" y="4772025"/>
            <a:ext cx="10439400" cy="523875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34A"/>
                </a:solidFill>
                <a:latin typeface="Arial"/>
                <a:ea typeface="Arial"/>
                <a:cs typeface="Arial"/>
              </a:rPr>
              <a:t>Final evidence record: version, static findings, trace provenance, behavior summary, triage action, and LLM explanation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7407EB-8340-48C1-AEC1-3CB41016306C}"/>
              </a:ext>
            </a:extLst>
          </p:cNvPr>
          <p:cNvSpPr>
            <a:spLocks noGrp="1"/>
          </p:cNvSpPr>
          <p:nvPr/>
        </p:nvSpPr>
        <p:spPr>
          <a:xfrm>
            <a:off x="1333500" y="5648325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95B2B"/>
                </a:solidFill>
                <a:latin typeface="Arial"/>
                <a:ea typeface="Arial"/>
                <a:cs typeface="Arial"/>
              </a:rPr>
              <a:t>The project code does not execute packages in Windows or Google Colab. Dynamic traces originate only from a disposable Linux VM.</a:t>
            </a:r>
          </a:p>
        </p:txBody>
      </p:sp>
    </p:spTree>
    <p:extLst>
      <p:ext uri="{BB962C8B-B14F-4D97-AF65-F5344CB8AC3E}">
        <p14:creationId xmlns:p14="http://schemas.microsoft.com/office/powerpoint/2010/main" val="218224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53E01FC-D524-4FE7-BC73-A93DF30F07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2334A"/>
          </a:solidFill>
          <a:ln w="0">
            <a:noFill/>
          </a:ln>
        </p:spPr>
        <p:txBody>
          <a:bodyPr anchor="ctr">
            <a:normAutofit fontScale="32500" lnSpcReduction="20000"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CEC080-7C13-4DE1-B3F0-356337323703}"/>
              </a:ext>
            </a:extLst>
          </p:cNvPr>
          <p:cNvSpPr>
            <a:spLocks noGrp="1"/>
          </p:cNvSpPr>
          <p:nvPr/>
        </p:nvSpPr>
        <p:spPr>
          <a:xfrm>
            <a:off x="704850" y="409575"/>
            <a:ext cx="9906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597" lnSpcReduction="10000"/>
          </a:bodyPr>
          <a:lstStyle/>
          <a:p>
            <a:pPr algn="l">
              <a:defRPr sz="2325" b="1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34A"/>
                </a:solidFill>
                <a:latin typeface="Arial"/>
                <a:ea typeface="Arial"/>
                <a:cs typeface="Arial"/>
              </a:rPr>
              <a:t>Experimental Core Details from Notebook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D0C784-A249-4014-B0C7-4A96BAB5AF1C}"/>
              </a:ext>
            </a:extLst>
          </p:cNvPr>
          <p:cNvSpPr>
            <a:spLocks noGrp="1"/>
          </p:cNvSpPr>
          <p:nvPr/>
        </p:nvSpPr>
        <p:spPr>
          <a:xfrm>
            <a:off x="723900" y="866775"/>
            <a:ext cx="98583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974"/>
                </a:solidFill>
                <a:latin typeface="Arial"/>
                <a:ea typeface="Arial"/>
                <a:cs typeface="Arial"/>
              </a:rPr>
              <a:t>The notebook and command-line experiments use fixed inputs, splits, and saved outputs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C17484-00D5-4A0D-8938-2300B0E2D6D5}"/>
              </a:ext>
            </a:extLst>
          </p:cNvPr>
          <p:cNvSpPr>
            <a:spLocks noGrp="1"/>
          </p:cNvSpPr>
          <p:nvPr/>
        </p:nvSpPr>
        <p:spPr>
          <a:xfrm>
            <a:off x="10896600" y="457200"/>
            <a:ext cx="6096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917" lnSpcReduction="10000"/>
          </a:bodyPr>
          <a:lstStyle/>
          <a:p>
            <a:pPr algn="r">
              <a:defRPr sz="1200" b="1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74A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8DD097-6853-4C41-B27D-46808C18194F}"/>
              </a:ext>
            </a:extLst>
          </p:cNvPr>
          <p:cNvSpPr>
            <a:spLocks noGrp="1"/>
          </p:cNvSpPr>
          <p:nvPr/>
        </p:nvSpPr>
        <p:spPr>
          <a:xfrm>
            <a:off x="704850" y="6477000"/>
            <a:ext cx="6858000" cy="142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2500" lnSpcReduction="20000"/>
          </a:bodyPr>
          <a:lstStyle/>
          <a:p>
            <a:pPr algn="l">
              <a:defRPr sz="750" b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AI-Based Detection of Malicious Open-Source Packages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BD5568-6473-48E2-BD28-8151E14CE16E}"/>
              </a:ext>
            </a:extLst>
          </p:cNvPr>
          <p:cNvSpPr>
            <a:spLocks noGrp="1"/>
          </p:cNvSpPr>
          <p:nvPr/>
        </p:nvSpPr>
        <p:spPr>
          <a:xfrm>
            <a:off x="714375" y="1381125"/>
            <a:ext cx="2143125" cy="476250"/>
          </a:xfrm>
          <a:prstGeom prst="rect">
            <a:avLst/>
          </a:prstGeom>
          <a:solidFill>
            <a:srgbClr val="12334A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Component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EA6A65-1DFB-44E4-9193-BA9CFC5DF6CD}"/>
              </a:ext>
            </a:extLst>
          </p:cNvPr>
          <p:cNvSpPr>
            <a:spLocks noGrp="1"/>
          </p:cNvSpPr>
          <p:nvPr/>
        </p:nvSpPr>
        <p:spPr>
          <a:xfrm>
            <a:off x="2952750" y="1381125"/>
            <a:ext cx="4619625" cy="476250"/>
          </a:xfrm>
          <a:prstGeom prst="rect">
            <a:avLst/>
          </a:prstGeom>
          <a:solidFill>
            <a:srgbClr val="12334A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Core setting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5CA4FA-A27F-4F1B-9937-10DCF04CE9DD}"/>
              </a:ext>
            </a:extLst>
          </p:cNvPr>
          <p:cNvSpPr>
            <a:spLocks noGrp="1"/>
          </p:cNvSpPr>
          <p:nvPr/>
        </p:nvSpPr>
        <p:spPr>
          <a:xfrm>
            <a:off x="7572375" y="1381125"/>
            <a:ext cx="3905250" cy="476250"/>
          </a:xfrm>
          <a:prstGeom prst="rect">
            <a:avLst/>
          </a:prstGeom>
          <a:solidFill>
            <a:srgbClr val="12334A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Saved 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B192F1-26F7-40E6-A537-F36F116643DB}"/>
              </a:ext>
            </a:extLst>
          </p:cNvPr>
          <p:cNvSpPr>
            <a:spLocks noGrp="1"/>
          </p:cNvSpPr>
          <p:nvPr/>
        </p:nvSpPr>
        <p:spPr>
          <a:xfrm>
            <a:off x="714375" y="1857375"/>
            <a:ext cx="2143125" cy="685800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Static baseline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7AA1D0-8088-49C8-B736-54E3D9900C46}"/>
              </a:ext>
            </a:extLst>
          </p:cNvPr>
          <p:cNvSpPr>
            <a:spLocks noGrp="1"/>
          </p:cNvSpPr>
          <p:nvPr/>
        </p:nvSpPr>
        <p:spPr>
          <a:xfrm>
            <a:off x="2952750" y="1857375"/>
            <a:ext cx="4619625" cy="685800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1,940 rows, 140 features, stratified 80/20 split, seed 42, XGBoost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52384A-427F-47D6-8210-B2909058BFA1}"/>
              </a:ext>
            </a:extLst>
          </p:cNvPr>
          <p:cNvSpPr>
            <a:spLocks noGrp="1"/>
          </p:cNvSpPr>
          <p:nvPr/>
        </p:nvSpPr>
        <p:spPr>
          <a:xfrm>
            <a:off x="7572375" y="1857375"/>
            <a:ext cx="3905250" cy="685800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Metrics JSON, confusion matrix, feature ranking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D58567-5074-4B92-AF84-09753112378A}"/>
              </a:ext>
            </a:extLst>
          </p:cNvPr>
          <p:cNvSpPr>
            <a:spLocks noGrp="1"/>
          </p:cNvSpPr>
          <p:nvPr/>
        </p:nvSpPr>
        <p:spPr>
          <a:xfrm>
            <a:off x="714375" y="2543175"/>
            <a:ext cx="214312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Transfer evaluation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4A50E2-567C-4A82-A3A2-DF8F5CE3DEC7}"/>
              </a:ext>
            </a:extLst>
          </p:cNvPr>
          <p:cNvSpPr>
            <a:spLocks noGrp="1"/>
          </p:cNvSpPr>
          <p:nvPr/>
        </p:nvSpPr>
        <p:spPr>
          <a:xfrm>
            <a:off x="2952750" y="2543175"/>
            <a:ext cx="461962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Train on NPM and test on PyPI, then reverse the direction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8511CA-31B3-45F4-A020-13E02BAB6CDD}"/>
              </a:ext>
            </a:extLst>
          </p:cNvPr>
          <p:cNvSpPr>
            <a:spLocks noGrp="1"/>
          </p:cNvSpPr>
          <p:nvPr/>
        </p:nvSpPr>
        <p:spPr>
          <a:xfrm>
            <a:off x="7572375" y="2543175"/>
            <a:ext cx="3905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static_transfer_metrics.json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6A3E8A-02AB-41B1-8385-9FDCBF2BB34C}"/>
              </a:ext>
            </a:extLst>
          </p:cNvPr>
          <p:cNvSpPr>
            <a:spLocks noGrp="1"/>
          </p:cNvSpPr>
          <p:nvPr/>
        </p:nvSpPr>
        <p:spPr>
          <a:xfrm>
            <a:off x="714375" y="3228975"/>
            <a:ext cx="2143125" cy="685800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Target-label experiment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1321E9-8F3B-41CB-B034-2C044EC49D40}"/>
              </a:ext>
            </a:extLst>
          </p:cNvPr>
          <p:cNvSpPr>
            <a:spLocks noGrp="1"/>
          </p:cNvSpPr>
          <p:nvPr/>
        </p:nvSpPr>
        <p:spPr>
          <a:xfrm>
            <a:off x="2952750" y="3228975"/>
            <a:ext cx="4619625" cy="685800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8 seeds, 65% target label pool, 35% held-out target test, budgets 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98DC16-D4AA-44A3-A516-1D42FED563B8}"/>
              </a:ext>
            </a:extLst>
          </p:cNvPr>
          <p:cNvSpPr>
            <a:spLocks noGrp="1"/>
          </p:cNvSpPr>
          <p:nvPr/>
        </p:nvSpPr>
        <p:spPr>
          <a:xfrm>
            <a:off x="7572375" y="3228975"/>
            <a:ext cx="3905250" cy="685800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Code included. Run and retain CSV/JSON before new claims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665DA1-547C-481C-83D4-4597085C7F93}"/>
              </a:ext>
            </a:extLst>
          </p:cNvPr>
          <p:cNvSpPr>
            <a:spLocks noGrp="1"/>
          </p:cNvSpPr>
          <p:nvPr/>
        </p:nvSpPr>
        <p:spPr>
          <a:xfrm>
            <a:off x="714375" y="3914775"/>
            <a:ext cx="214312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VM traces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F29AA6-1F4C-40BC-A089-ED3811EFD5F2}"/>
              </a:ext>
            </a:extLst>
          </p:cNvPr>
          <p:cNvSpPr>
            <a:spLocks noGrp="1"/>
          </p:cNvSpPr>
          <p:nvPr/>
        </p:nvSpPr>
        <p:spPr>
          <a:xfrm>
            <a:off x="2952750" y="3914775"/>
            <a:ext cx="461962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Existing strace logs converted to JSON after collection in Linux Mint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6A9B13-9107-4F61-99BE-80F8D3E90EE7}"/>
              </a:ext>
            </a:extLst>
          </p:cNvPr>
          <p:cNvSpPr>
            <a:spLocks noGrp="1"/>
          </p:cNvSpPr>
          <p:nvPr/>
        </p:nvSpPr>
        <p:spPr>
          <a:xfrm>
            <a:off x="7572375" y="3914775"/>
            <a:ext cx="3905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requests and lodash trace JSON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C280F1-2F5C-4F12-ABED-A086B110E6E6}"/>
              </a:ext>
            </a:extLst>
          </p:cNvPr>
          <p:cNvSpPr>
            <a:spLocks noGrp="1"/>
          </p:cNvSpPr>
          <p:nvPr/>
        </p:nvSpPr>
        <p:spPr>
          <a:xfrm>
            <a:off x="714375" y="4600575"/>
            <a:ext cx="2143125" cy="685800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Local LLM review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B3BE6F-9D64-4A82-BA41-410E2206373C}"/>
              </a:ext>
            </a:extLst>
          </p:cNvPr>
          <p:cNvSpPr>
            <a:spLocks noGrp="1"/>
          </p:cNvSpPr>
          <p:nvPr/>
        </p:nvSpPr>
        <p:spPr>
          <a:xfrm>
            <a:off x="2952750" y="4600575"/>
            <a:ext cx="4619625" cy="685800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Qwen2.5 1.5B in Colab receives only bounded evidence JSON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12B2D9-315A-468E-B5F9-DF2CDED68555}"/>
              </a:ext>
            </a:extLst>
          </p:cNvPr>
          <p:cNvSpPr>
            <a:spLocks noGrp="1"/>
          </p:cNvSpPr>
          <p:nvPr/>
        </p:nvSpPr>
        <p:spPr>
          <a:xfrm>
            <a:off x="7572375" y="4600575"/>
            <a:ext cx="3905250" cy="685800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requests_llm_review.json and lodash_llm_review.json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F9BAE1-1136-4AFF-8E1E-AFF62B1B0BDA}"/>
              </a:ext>
            </a:extLst>
          </p:cNvPr>
          <p:cNvSpPr>
            <a:spLocks noGrp="1"/>
          </p:cNvSpPr>
          <p:nvPr/>
        </p:nvSpPr>
        <p:spPr>
          <a:xfrm>
            <a:off x="1000125" y="5581650"/>
            <a:ext cx="10191750" cy="409575"/>
          </a:xfrm>
          <a:prstGeom prst="rect">
            <a:avLst/>
          </a:prstGeom>
          <a:solidFill>
            <a:srgbClr val="FFF5EF"/>
          </a:solidFill>
          <a:ln w="9525">
            <a:solidFill>
              <a:srgbClr val="E4BAA4"/>
            </a:solidFill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The static XGBoost probability and the read-only source heuristic use different features. They must not be compared as the same score.</a:t>
            </a:r>
          </a:p>
        </p:txBody>
      </p:sp>
    </p:spTree>
    <p:extLst>
      <p:ext uri="{BB962C8B-B14F-4D97-AF65-F5344CB8AC3E}">
        <p14:creationId xmlns:p14="http://schemas.microsoft.com/office/powerpoint/2010/main" val="1667116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C442538C-7C29-4F68-89FD-04DBBB06A2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2334A"/>
          </a:solidFill>
          <a:ln w="0">
            <a:noFill/>
          </a:ln>
        </p:spPr>
        <p:txBody>
          <a:bodyPr anchor="ctr">
            <a:normAutofit fontScale="32500" lnSpcReduction="20000"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FC4BE5-B65A-4A36-9887-09320C6A343F}"/>
              </a:ext>
            </a:extLst>
          </p:cNvPr>
          <p:cNvSpPr>
            <a:spLocks noGrp="1"/>
          </p:cNvSpPr>
          <p:nvPr/>
        </p:nvSpPr>
        <p:spPr>
          <a:xfrm>
            <a:off x="704850" y="409575"/>
            <a:ext cx="9906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597" lnSpcReduction="10000"/>
          </a:bodyPr>
          <a:lstStyle/>
          <a:p>
            <a:pPr algn="l">
              <a:defRPr sz="2325" b="1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34A"/>
                </a:solidFill>
                <a:latin typeface="Arial"/>
                <a:ea typeface="Arial"/>
                <a:cs typeface="Arial"/>
              </a:rPr>
              <a:t>Results: Static Baseline and Transfer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CB0082-8242-4A15-80EE-A043C33E3293}"/>
              </a:ext>
            </a:extLst>
          </p:cNvPr>
          <p:cNvSpPr>
            <a:spLocks noGrp="1"/>
          </p:cNvSpPr>
          <p:nvPr/>
        </p:nvSpPr>
        <p:spPr>
          <a:xfrm>
            <a:off x="723900" y="866775"/>
            <a:ext cx="98583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 random split looks strong, but cross-ecosystem F1 decreases substantially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96704C-4C13-4E7E-898A-38657E47B0BF}"/>
              </a:ext>
            </a:extLst>
          </p:cNvPr>
          <p:cNvSpPr>
            <a:spLocks noGrp="1"/>
          </p:cNvSpPr>
          <p:nvPr/>
        </p:nvSpPr>
        <p:spPr>
          <a:xfrm>
            <a:off x="10896600" y="457200"/>
            <a:ext cx="6096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917" lnSpcReduction="10000"/>
          </a:bodyPr>
          <a:lstStyle/>
          <a:p>
            <a:pPr algn="r">
              <a:defRPr sz="1200" b="1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74A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A1AD37-51A4-4E17-89F0-7234AF94173E}"/>
              </a:ext>
            </a:extLst>
          </p:cNvPr>
          <p:cNvSpPr>
            <a:spLocks noGrp="1"/>
          </p:cNvSpPr>
          <p:nvPr/>
        </p:nvSpPr>
        <p:spPr>
          <a:xfrm>
            <a:off x="704850" y="6477000"/>
            <a:ext cx="6858000" cy="142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2500" lnSpcReduction="20000"/>
          </a:bodyPr>
          <a:lstStyle/>
          <a:p>
            <a:pPr algn="l">
              <a:defRPr sz="750" b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AI-Based Detection of Malicious Open-Source Packages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72A430-293D-4450-9564-B7B32C310EA2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2667000" cy="466725"/>
          </a:xfrm>
          <a:prstGeom prst="rect">
            <a:avLst/>
          </a:prstGeom>
          <a:solidFill>
            <a:srgbClr val="12334A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2D847F-A02F-4A5C-B439-DF2A714FB988}"/>
              </a:ext>
            </a:extLst>
          </p:cNvPr>
          <p:cNvSpPr>
            <a:spLocks noGrp="1"/>
          </p:cNvSpPr>
          <p:nvPr/>
        </p:nvSpPr>
        <p:spPr>
          <a:xfrm>
            <a:off x="3333750" y="1428750"/>
            <a:ext cx="1428750" cy="466725"/>
          </a:xfrm>
          <a:prstGeom prst="rect">
            <a:avLst/>
          </a:prstGeom>
          <a:solidFill>
            <a:srgbClr val="12334A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E842D7-59A9-44D5-B0E7-BCCE685CDF3F}"/>
              </a:ext>
            </a:extLst>
          </p:cNvPr>
          <p:cNvSpPr>
            <a:spLocks noGrp="1"/>
          </p:cNvSpPr>
          <p:nvPr/>
        </p:nvSpPr>
        <p:spPr>
          <a:xfrm>
            <a:off x="4810125" y="1428750"/>
            <a:ext cx="1476375" cy="466725"/>
          </a:xfrm>
          <a:prstGeom prst="rect">
            <a:avLst/>
          </a:prstGeom>
          <a:solidFill>
            <a:srgbClr val="12334A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Precision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04B6FE-D0D6-413F-BF4A-9E799D359B76}"/>
              </a:ext>
            </a:extLst>
          </p:cNvPr>
          <p:cNvSpPr>
            <a:spLocks noGrp="1"/>
          </p:cNvSpPr>
          <p:nvPr/>
        </p:nvSpPr>
        <p:spPr>
          <a:xfrm>
            <a:off x="6286500" y="1428750"/>
            <a:ext cx="1476375" cy="466725"/>
          </a:xfrm>
          <a:prstGeom prst="rect">
            <a:avLst/>
          </a:prstGeom>
          <a:solidFill>
            <a:srgbClr val="12334A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21251D-ED37-4D3C-9C83-8932D91F5D78}"/>
              </a:ext>
            </a:extLst>
          </p:cNvPr>
          <p:cNvSpPr>
            <a:spLocks noGrp="1"/>
          </p:cNvSpPr>
          <p:nvPr/>
        </p:nvSpPr>
        <p:spPr>
          <a:xfrm>
            <a:off x="7762875" y="1428750"/>
            <a:ext cx="1428750" cy="466725"/>
          </a:xfrm>
          <a:prstGeom prst="rect">
            <a:avLst/>
          </a:prstGeom>
          <a:solidFill>
            <a:srgbClr val="12334A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999E87-E23D-435C-9AC4-C0A1A62DBBF8}"/>
              </a:ext>
            </a:extLst>
          </p:cNvPr>
          <p:cNvSpPr>
            <a:spLocks noGrp="1"/>
          </p:cNvSpPr>
          <p:nvPr/>
        </p:nvSpPr>
        <p:spPr>
          <a:xfrm>
            <a:off x="9191625" y="1428750"/>
            <a:ext cx="1666875" cy="466725"/>
          </a:xfrm>
          <a:prstGeom prst="rect">
            <a:avLst/>
          </a:prstGeom>
          <a:solidFill>
            <a:srgbClr val="12334A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ROC AUC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213349-927C-4709-B31B-763206B65614}"/>
              </a:ext>
            </a:extLst>
          </p:cNvPr>
          <p:cNvSpPr>
            <a:spLocks noGrp="1"/>
          </p:cNvSpPr>
          <p:nvPr/>
        </p:nvSpPr>
        <p:spPr>
          <a:xfrm>
            <a:off x="666750" y="1895475"/>
            <a:ext cx="2667000" cy="523875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XGBoost random split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80B61B-C96F-42AA-B607-DC654F8B0485}"/>
              </a:ext>
            </a:extLst>
          </p:cNvPr>
          <p:cNvSpPr>
            <a:spLocks noGrp="1"/>
          </p:cNvSpPr>
          <p:nvPr/>
        </p:nvSpPr>
        <p:spPr>
          <a:xfrm>
            <a:off x="3333750" y="1895475"/>
            <a:ext cx="1428750" cy="523875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0.9691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B46BAA-159C-41AA-AECA-AC26D7541663}"/>
              </a:ext>
            </a:extLst>
          </p:cNvPr>
          <p:cNvSpPr>
            <a:spLocks noGrp="1"/>
          </p:cNvSpPr>
          <p:nvPr/>
        </p:nvSpPr>
        <p:spPr>
          <a:xfrm>
            <a:off x="4810125" y="1895475"/>
            <a:ext cx="1476375" cy="523875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0.9091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E0BD59-A483-4938-B29A-1F80FA84B124}"/>
              </a:ext>
            </a:extLst>
          </p:cNvPr>
          <p:cNvSpPr>
            <a:spLocks noGrp="1"/>
          </p:cNvSpPr>
          <p:nvPr/>
        </p:nvSpPr>
        <p:spPr>
          <a:xfrm>
            <a:off x="6286500" y="1895475"/>
            <a:ext cx="1476375" cy="523875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0.7692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07EF0E-1C10-4E13-95DF-D4449CB42371}"/>
              </a:ext>
            </a:extLst>
          </p:cNvPr>
          <p:cNvSpPr>
            <a:spLocks noGrp="1"/>
          </p:cNvSpPr>
          <p:nvPr/>
        </p:nvSpPr>
        <p:spPr>
          <a:xfrm>
            <a:off x="7762875" y="1895475"/>
            <a:ext cx="1428750" cy="523875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0.8333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3057B0-2AD5-4393-BB91-CA4AA0BF4FF8}"/>
              </a:ext>
            </a:extLst>
          </p:cNvPr>
          <p:cNvSpPr>
            <a:spLocks noGrp="1"/>
          </p:cNvSpPr>
          <p:nvPr/>
        </p:nvSpPr>
        <p:spPr>
          <a:xfrm>
            <a:off x="9191625" y="1895475"/>
            <a:ext cx="1666875" cy="523875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0.9802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F19870-AE44-4874-9D8E-72D0A1D2D731}"/>
              </a:ext>
            </a:extLst>
          </p:cNvPr>
          <p:cNvSpPr>
            <a:spLocks noGrp="1"/>
          </p:cNvSpPr>
          <p:nvPr/>
        </p:nvSpPr>
        <p:spPr>
          <a:xfrm>
            <a:off x="666750" y="2419350"/>
            <a:ext cx="2667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NPM subset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E4180C-8537-4773-8736-D63E6893AB82}"/>
              </a:ext>
            </a:extLst>
          </p:cNvPr>
          <p:cNvSpPr>
            <a:spLocks noGrp="1"/>
          </p:cNvSpPr>
          <p:nvPr/>
        </p:nvSpPr>
        <p:spPr>
          <a:xfrm>
            <a:off x="3333750" y="2419350"/>
            <a:ext cx="14287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0.9784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F9F036-886E-4BA8-969F-9F29B84DB38A}"/>
              </a:ext>
            </a:extLst>
          </p:cNvPr>
          <p:cNvSpPr>
            <a:spLocks noGrp="1"/>
          </p:cNvSpPr>
          <p:nvPr/>
        </p:nvSpPr>
        <p:spPr>
          <a:xfrm>
            <a:off x="4810125" y="2419350"/>
            <a:ext cx="1476375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0.9286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330E0C-6438-4CF2-8B54-FD904F330327}"/>
              </a:ext>
            </a:extLst>
          </p:cNvPr>
          <p:cNvSpPr>
            <a:spLocks noGrp="1"/>
          </p:cNvSpPr>
          <p:nvPr/>
        </p:nvSpPr>
        <p:spPr>
          <a:xfrm>
            <a:off x="6286500" y="2419350"/>
            <a:ext cx="1476375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0.8125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12108B-3A8F-452B-8115-42FAC37B6B57}"/>
              </a:ext>
            </a:extLst>
          </p:cNvPr>
          <p:cNvSpPr>
            <a:spLocks noGrp="1"/>
          </p:cNvSpPr>
          <p:nvPr/>
        </p:nvSpPr>
        <p:spPr>
          <a:xfrm>
            <a:off x="7762875" y="2419350"/>
            <a:ext cx="14287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0.8667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68A4B4-4D8F-4A79-8C97-593613110D2D}"/>
              </a:ext>
            </a:extLst>
          </p:cNvPr>
          <p:cNvSpPr>
            <a:spLocks noGrp="1"/>
          </p:cNvSpPr>
          <p:nvPr/>
        </p:nvSpPr>
        <p:spPr>
          <a:xfrm>
            <a:off x="9191625" y="2419350"/>
            <a:ext cx="1666875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0.9952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68714F-EE14-4611-853F-8B2D95649186}"/>
              </a:ext>
            </a:extLst>
          </p:cNvPr>
          <p:cNvSpPr>
            <a:spLocks noGrp="1"/>
          </p:cNvSpPr>
          <p:nvPr/>
        </p:nvSpPr>
        <p:spPr>
          <a:xfrm>
            <a:off x="666750" y="2943225"/>
            <a:ext cx="2667000" cy="523875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PyPI subset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2D445BE-9356-461B-A6FB-0F26DC63C96D}"/>
              </a:ext>
            </a:extLst>
          </p:cNvPr>
          <p:cNvSpPr>
            <a:spLocks noGrp="1"/>
          </p:cNvSpPr>
          <p:nvPr/>
        </p:nvSpPr>
        <p:spPr>
          <a:xfrm>
            <a:off x="3333750" y="2943225"/>
            <a:ext cx="1428750" cy="523875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0.9606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422B27-6D82-4EDB-AD00-F6E4581F9AF8}"/>
              </a:ext>
            </a:extLst>
          </p:cNvPr>
          <p:cNvSpPr>
            <a:spLocks noGrp="1"/>
          </p:cNvSpPr>
          <p:nvPr/>
        </p:nvSpPr>
        <p:spPr>
          <a:xfrm>
            <a:off x="4810125" y="2943225"/>
            <a:ext cx="1476375" cy="523875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0.8947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7A65924-E639-4275-A8E9-A59D56BD8C55}"/>
              </a:ext>
            </a:extLst>
          </p:cNvPr>
          <p:cNvSpPr>
            <a:spLocks noGrp="1"/>
          </p:cNvSpPr>
          <p:nvPr/>
        </p:nvSpPr>
        <p:spPr>
          <a:xfrm>
            <a:off x="6286500" y="2943225"/>
            <a:ext cx="1476375" cy="523875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0.7391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DA2186-7618-4BAD-83A2-5943C802AAA4}"/>
              </a:ext>
            </a:extLst>
          </p:cNvPr>
          <p:cNvSpPr>
            <a:spLocks noGrp="1"/>
          </p:cNvSpPr>
          <p:nvPr/>
        </p:nvSpPr>
        <p:spPr>
          <a:xfrm>
            <a:off x="7762875" y="2943225"/>
            <a:ext cx="1428750" cy="523875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0.8095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DAA015-8800-46AA-9D9E-C36E74C5FD1B}"/>
              </a:ext>
            </a:extLst>
          </p:cNvPr>
          <p:cNvSpPr>
            <a:spLocks noGrp="1"/>
          </p:cNvSpPr>
          <p:nvPr/>
        </p:nvSpPr>
        <p:spPr>
          <a:xfrm>
            <a:off x="9191625" y="2943225"/>
            <a:ext cx="1666875" cy="523875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0.9703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307125-C22E-4815-9F3A-31BCCB773173}"/>
              </a:ext>
            </a:extLst>
          </p:cNvPr>
          <p:cNvSpPr>
            <a:spLocks noGrp="1"/>
          </p:cNvSpPr>
          <p:nvPr/>
        </p:nvSpPr>
        <p:spPr>
          <a:xfrm>
            <a:off x="666750" y="3895725"/>
            <a:ext cx="2190750" cy="466725"/>
          </a:xfrm>
          <a:prstGeom prst="rect">
            <a:avLst/>
          </a:prstGeom>
          <a:solidFill>
            <a:srgbClr val="12334A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 ecosystem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461314-49A4-4070-A450-094BFD1ED161}"/>
              </a:ext>
            </a:extLst>
          </p:cNvPr>
          <p:cNvSpPr>
            <a:spLocks noGrp="1"/>
          </p:cNvSpPr>
          <p:nvPr/>
        </p:nvSpPr>
        <p:spPr>
          <a:xfrm>
            <a:off x="3000375" y="3895725"/>
            <a:ext cx="2190750" cy="466725"/>
          </a:xfrm>
          <a:prstGeom prst="rect">
            <a:avLst/>
          </a:prstGeom>
          <a:solidFill>
            <a:srgbClr val="12334A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ecosystem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ED3DAE5-8039-4FE9-956B-F9246C3BB5A2}"/>
              </a:ext>
            </a:extLst>
          </p:cNvPr>
          <p:cNvSpPr>
            <a:spLocks noGrp="1"/>
          </p:cNvSpPr>
          <p:nvPr/>
        </p:nvSpPr>
        <p:spPr>
          <a:xfrm>
            <a:off x="5334000" y="3895725"/>
            <a:ext cx="1381125" cy="466725"/>
          </a:xfrm>
          <a:prstGeom prst="rect">
            <a:avLst/>
          </a:prstGeom>
          <a:solidFill>
            <a:srgbClr val="12334A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5F3F0AF-C370-4BA7-91A0-8E8A6749AB3A}"/>
              </a:ext>
            </a:extLst>
          </p:cNvPr>
          <p:cNvSpPr>
            <a:spLocks noGrp="1"/>
          </p:cNvSpPr>
          <p:nvPr/>
        </p:nvSpPr>
        <p:spPr>
          <a:xfrm>
            <a:off x="6715125" y="3895725"/>
            <a:ext cx="1381125" cy="466725"/>
          </a:xfrm>
          <a:prstGeom prst="rect">
            <a:avLst/>
          </a:prstGeom>
          <a:solidFill>
            <a:srgbClr val="12334A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ROC AUC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5013B8C-95BD-4B54-90AE-9C881FD7D99E}"/>
              </a:ext>
            </a:extLst>
          </p:cNvPr>
          <p:cNvSpPr>
            <a:spLocks noGrp="1"/>
          </p:cNvSpPr>
          <p:nvPr/>
        </p:nvSpPr>
        <p:spPr>
          <a:xfrm>
            <a:off x="8096250" y="3895725"/>
            <a:ext cx="3429000" cy="466725"/>
          </a:xfrm>
          <a:prstGeom prst="rect">
            <a:avLst/>
          </a:prstGeom>
          <a:solidFill>
            <a:srgbClr val="12334A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Meaning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8B70A73-59B4-4BFB-BD4F-71B071D6BD8A}"/>
              </a:ext>
            </a:extLst>
          </p:cNvPr>
          <p:cNvSpPr>
            <a:spLocks noGrp="1"/>
          </p:cNvSpPr>
          <p:nvPr/>
        </p:nvSpPr>
        <p:spPr>
          <a:xfrm>
            <a:off x="666750" y="4362450"/>
            <a:ext cx="2190750" cy="542925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NPM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9BF888-FB7A-4485-A258-E4CAD895C322}"/>
              </a:ext>
            </a:extLst>
          </p:cNvPr>
          <p:cNvSpPr>
            <a:spLocks noGrp="1"/>
          </p:cNvSpPr>
          <p:nvPr/>
        </p:nvSpPr>
        <p:spPr>
          <a:xfrm>
            <a:off x="3000375" y="4362450"/>
            <a:ext cx="2190750" cy="542925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PyPI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8972EE9-D41A-4590-8AF5-6AE0A6408CEE}"/>
              </a:ext>
            </a:extLst>
          </p:cNvPr>
          <p:cNvSpPr>
            <a:spLocks noGrp="1"/>
          </p:cNvSpPr>
          <p:nvPr/>
        </p:nvSpPr>
        <p:spPr>
          <a:xfrm>
            <a:off x="5334000" y="4362450"/>
            <a:ext cx="1381125" cy="542925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0.4962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AE25F0D-3A2E-4377-8D11-DE8541C81D2E}"/>
              </a:ext>
            </a:extLst>
          </p:cNvPr>
          <p:cNvSpPr>
            <a:spLocks noGrp="1"/>
          </p:cNvSpPr>
          <p:nvPr/>
        </p:nvSpPr>
        <p:spPr>
          <a:xfrm>
            <a:off x="6715125" y="4362450"/>
            <a:ext cx="1381125" cy="542925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0.7354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CECA7BE-72F7-4726-80E3-E477631A21FC}"/>
              </a:ext>
            </a:extLst>
          </p:cNvPr>
          <p:cNvSpPr>
            <a:spLocks noGrp="1"/>
          </p:cNvSpPr>
          <p:nvPr/>
        </p:nvSpPr>
        <p:spPr>
          <a:xfrm>
            <a:off x="8096250" y="4362450"/>
            <a:ext cx="3429000" cy="542925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5B2B"/>
                </a:solidFill>
                <a:latin typeface="Arial"/>
                <a:ea typeface="Arial"/>
                <a:cs typeface="Arial"/>
              </a:rPr>
              <a:t>Static transfer loses F1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7BFC4BB-1B50-41D1-AA3A-18B5FB3502BB}"/>
              </a:ext>
            </a:extLst>
          </p:cNvPr>
          <p:cNvSpPr>
            <a:spLocks noGrp="1"/>
          </p:cNvSpPr>
          <p:nvPr/>
        </p:nvSpPr>
        <p:spPr>
          <a:xfrm>
            <a:off x="666750" y="4905375"/>
            <a:ext cx="2190750" cy="5429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PyPI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1E55C74-0231-4257-AC24-03835DBDC8E8}"/>
              </a:ext>
            </a:extLst>
          </p:cNvPr>
          <p:cNvSpPr>
            <a:spLocks noGrp="1"/>
          </p:cNvSpPr>
          <p:nvPr/>
        </p:nvSpPr>
        <p:spPr>
          <a:xfrm>
            <a:off x="3000375" y="4905375"/>
            <a:ext cx="2190750" cy="5429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NPM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0D832B3-575F-4414-9317-CED30AC187F6}"/>
              </a:ext>
            </a:extLst>
          </p:cNvPr>
          <p:cNvSpPr>
            <a:spLocks noGrp="1"/>
          </p:cNvSpPr>
          <p:nvPr/>
        </p:nvSpPr>
        <p:spPr>
          <a:xfrm>
            <a:off x="5334000" y="4905375"/>
            <a:ext cx="1381125" cy="5429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0.2892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75DE7FC-8246-4069-9A02-13A15CFA5E33}"/>
              </a:ext>
            </a:extLst>
          </p:cNvPr>
          <p:cNvSpPr>
            <a:spLocks noGrp="1"/>
          </p:cNvSpPr>
          <p:nvPr/>
        </p:nvSpPr>
        <p:spPr>
          <a:xfrm>
            <a:off x="6715125" y="4905375"/>
            <a:ext cx="1381125" cy="5429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0.7893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49317D9-8684-49F5-BECD-3A4A29D39CEB}"/>
              </a:ext>
            </a:extLst>
          </p:cNvPr>
          <p:cNvSpPr>
            <a:spLocks noGrp="1"/>
          </p:cNvSpPr>
          <p:nvPr/>
        </p:nvSpPr>
        <p:spPr>
          <a:xfrm>
            <a:off x="8096250" y="4905375"/>
            <a:ext cx="3429000" cy="5429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5B2B"/>
                </a:solidFill>
                <a:latin typeface="Arial"/>
                <a:ea typeface="Arial"/>
                <a:cs typeface="Arial"/>
              </a:rPr>
              <a:t>Reverse transfer loses more F1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571F796-D55C-4C38-9794-88F03539212B}"/>
              </a:ext>
            </a:extLst>
          </p:cNvPr>
          <p:cNvSpPr>
            <a:spLocks noGrp="1"/>
          </p:cNvSpPr>
          <p:nvPr/>
        </p:nvSpPr>
        <p:spPr>
          <a:xfrm>
            <a:off x="1000125" y="5581650"/>
            <a:ext cx="10191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34A"/>
                </a:solidFill>
                <a:latin typeface="Arial"/>
                <a:ea typeface="Arial"/>
                <a:cs typeface="Arial"/>
              </a:rPr>
              <a:t>Finding: a high pooled random-split score does not demonstrate reliable static generalization across both ecosystems.</a:t>
            </a:r>
          </a:p>
        </p:txBody>
      </p:sp>
    </p:spTree>
    <p:extLst>
      <p:ext uri="{BB962C8B-B14F-4D97-AF65-F5344CB8AC3E}">
        <p14:creationId xmlns:p14="http://schemas.microsoft.com/office/powerpoint/2010/main" val="1393401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232AF352-F37B-4E96-AD5D-214ED20839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2334A"/>
          </a:solidFill>
          <a:ln w="0">
            <a:noFill/>
          </a:ln>
        </p:spPr>
        <p:txBody>
          <a:bodyPr anchor="ctr">
            <a:normAutofit fontScale="32500" lnSpcReduction="20000"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7EE1BB-F7A1-4DFC-A948-39D525F67FDE}"/>
              </a:ext>
            </a:extLst>
          </p:cNvPr>
          <p:cNvSpPr>
            <a:spLocks noGrp="1"/>
          </p:cNvSpPr>
          <p:nvPr/>
        </p:nvSpPr>
        <p:spPr>
          <a:xfrm>
            <a:off x="704850" y="409575"/>
            <a:ext cx="9906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597" lnSpcReduction="10000"/>
          </a:bodyPr>
          <a:lstStyle/>
          <a:p>
            <a:pPr algn="l">
              <a:defRPr sz="2325" b="1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34A"/>
                </a:solidFill>
                <a:latin typeface="Arial"/>
                <a:ea typeface="Arial"/>
                <a:cs typeface="Arial"/>
              </a:rPr>
              <a:t>Results: Evidence Fusion and Triage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C7B698-0A48-4168-B61E-34FA5D9E83B8}"/>
              </a:ext>
            </a:extLst>
          </p:cNvPr>
          <p:cNvSpPr>
            <a:spLocks noGrp="1"/>
          </p:cNvSpPr>
          <p:nvPr/>
        </p:nvSpPr>
        <p:spPr>
          <a:xfrm>
            <a:off x="723900" y="866775"/>
            <a:ext cx="98583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974"/>
                </a:solidFill>
                <a:latin typeface="Arial"/>
                <a:ea typeface="Arial"/>
                <a:cs typeface="Arial"/>
              </a:rPr>
              <a:t>Known benign packages test the evidence workflow, not detection accuracy on malicious packages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D539D7-5449-4392-BBE6-E6D8D9C81412}"/>
              </a:ext>
            </a:extLst>
          </p:cNvPr>
          <p:cNvSpPr>
            <a:spLocks noGrp="1"/>
          </p:cNvSpPr>
          <p:nvPr/>
        </p:nvSpPr>
        <p:spPr>
          <a:xfrm>
            <a:off x="10896600" y="457200"/>
            <a:ext cx="6096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917" lnSpcReduction="10000"/>
          </a:bodyPr>
          <a:lstStyle/>
          <a:p>
            <a:pPr algn="r">
              <a:defRPr sz="1200" b="1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74A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AE451B-AB92-40AC-AD19-B25A71F344A6}"/>
              </a:ext>
            </a:extLst>
          </p:cNvPr>
          <p:cNvSpPr>
            <a:spLocks noGrp="1"/>
          </p:cNvSpPr>
          <p:nvPr/>
        </p:nvSpPr>
        <p:spPr>
          <a:xfrm>
            <a:off x="704850" y="6477000"/>
            <a:ext cx="6858000" cy="142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2500" lnSpcReduction="20000"/>
          </a:bodyPr>
          <a:lstStyle/>
          <a:p>
            <a:pPr algn="l">
              <a:defRPr sz="750" b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AI-Based Detection of Malicious Open-Source Packages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E9D5ED-089F-4C35-B008-1A4A14600D41}"/>
              </a:ext>
            </a:extLst>
          </p:cNvPr>
          <p:cNvSpPr>
            <a:spLocks noGrp="1"/>
          </p:cNvSpPr>
          <p:nvPr/>
        </p:nvSpPr>
        <p:spPr>
          <a:xfrm>
            <a:off x="666750" y="1419225"/>
            <a:ext cx="2476500" cy="466725"/>
          </a:xfrm>
          <a:prstGeom prst="rect">
            <a:avLst/>
          </a:prstGeom>
          <a:solidFill>
            <a:srgbClr val="12334A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Package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4629F5-FBE7-4967-8414-67E9B1395243}"/>
              </a:ext>
            </a:extLst>
          </p:cNvPr>
          <p:cNvSpPr>
            <a:spLocks noGrp="1"/>
          </p:cNvSpPr>
          <p:nvPr/>
        </p:nvSpPr>
        <p:spPr>
          <a:xfrm>
            <a:off x="3143250" y="1419225"/>
            <a:ext cx="1714500" cy="466725"/>
          </a:xfrm>
          <a:prstGeom prst="rect">
            <a:avLst/>
          </a:prstGeom>
          <a:solidFill>
            <a:srgbClr val="12334A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Static heuristic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7DD239-E1BF-4F61-96D3-9F1572E1ED01}"/>
              </a:ext>
            </a:extLst>
          </p:cNvPr>
          <p:cNvSpPr>
            <a:spLocks noGrp="1"/>
          </p:cNvSpPr>
          <p:nvPr/>
        </p:nvSpPr>
        <p:spPr>
          <a:xfrm>
            <a:off x="5095875" y="1419225"/>
            <a:ext cx="1666875" cy="466725"/>
          </a:xfrm>
          <a:prstGeom prst="rect">
            <a:avLst/>
          </a:prstGeom>
          <a:solidFill>
            <a:srgbClr val="12334A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Dynamic score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23AEC9-A88E-4CA5-BA93-69EB85B022CA}"/>
              </a:ext>
            </a:extLst>
          </p:cNvPr>
          <p:cNvSpPr>
            <a:spLocks noGrp="1"/>
          </p:cNvSpPr>
          <p:nvPr/>
        </p:nvSpPr>
        <p:spPr>
          <a:xfrm>
            <a:off x="6762750" y="1419225"/>
            <a:ext cx="1524000" cy="466725"/>
          </a:xfrm>
          <a:prstGeom prst="rect">
            <a:avLst/>
          </a:prstGeom>
          <a:solidFill>
            <a:srgbClr val="12334A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Fused score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EE43DD-8A6E-4CFB-80A5-E88F810D5FEF}"/>
              </a:ext>
            </a:extLst>
          </p:cNvPr>
          <p:cNvSpPr>
            <a:spLocks noGrp="1"/>
          </p:cNvSpPr>
          <p:nvPr/>
        </p:nvSpPr>
        <p:spPr>
          <a:xfrm>
            <a:off x="8286750" y="1419225"/>
            <a:ext cx="3286125" cy="466725"/>
          </a:xfrm>
          <a:prstGeom prst="rect">
            <a:avLst/>
          </a:prstGeom>
          <a:solidFill>
            <a:srgbClr val="12334A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503864-1E8C-4E06-8086-11CB7BBB1FC3}"/>
              </a:ext>
            </a:extLst>
          </p:cNvPr>
          <p:cNvSpPr>
            <a:spLocks noGrp="1"/>
          </p:cNvSpPr>
          <p:nvPr/>
        </p:nvSpPr>
        <p:spPr>
          <a:xfrm>
            <a:off x="666750" y="1885950"/>
            <a:ext cx="2476500" cy="685800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requests 2.32.3, PyPI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B40A47-A76E-4886-92C5-9971DF7E7C45}"/>
              </a:ext>
            </a:extLst>
          </p:cNvPr>
          <p:cNvSpPr>
            <a:spLocks noGrp="1"/>
          </p:cNvSpPr>
          <p:nvPr/>
        </p:nvSpPr>
        <p:spPr>
          <a:xfrm>
            <a:off x="3143250" y="1885950"/>
            <a:ext cx="1714500" cy="685800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0.40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0E4D25-AF5C-4F91-A26C-B195F3474482}"/>
              </a:ext>
            </a:extLst>
          </p:cNvPr>
          <p:cNvSpPr>
            <a:spLocks noGrp="1"/>
          </p:cNvSpPr>
          <p:nvPr/>
        </p:nvSpPr>
        <p:spPr>
          <a:xfrm>
            <a:off x="5095875" y="1885950"/>
            <a:ext cx="1666875" cy="685800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0.25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9F51AB-9517-4F15-A702-91C233A7782B}"/>
              </a:ext>
            </a:extLst>
          </p:cNvPr>
          <p:cNvSpPr>
            <a:spLocks noGrp="1"/>
          </p:cNvSpPr>
          <p:nvPr/>
        </p:nvSpPr>
        <p:spPr>
          <a:xfrm>
            <a:off x="6762750" y="1885950"/>
            <a:ext cx="1524000" cy="685800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0.325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F5726A-349F-4FA5-A37B-3AF0D3463716}"/>
              </a:ext>
            </a:extLst>
          </p:cNvPr>
          <p:cNvSpPr>
            <a:spLocks noGrp="1"/>
          </p:cNvSpPr>
          <p:nvPr/>
        </p:nvSpPr>
        <p:spPr>
          <a:xfrm>
            <a:off x="8286750" y="1885950"/>
            <a:ext cx="3286125" cy="685800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5B2B"/>
                </a:solidFill>
                <a:latin typeface="Arial"/>
                <a:ea typeface="Arial"/>
                <a:cs typeface="Arial"/>
              </a:rPr>
              <a:t>Human review for ambiguous risk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0241A4-C2D6-43ED-90F2-1A7B2A886EA0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2476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lodash 4.17.21, npm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881C78-B6A5-4CA7-91A0-60E7C0BB8142}"/>
              </a:ext>
            </a:extLst>
          </p:cNvPr>
          <p:cNvSpPr>
            <a:spLocks noGrp="1"/>
          </p:cNvSpPr>
          <p:nvPr/>
        </p:nvSpPr>
        <p:spPr>
          <a:xfrm>
            <a:off x="3143250" y="2571750"/>
            <a:ext cx="1714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0.22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E4E39C-FE7F-447B-8F5D-685881974FD5}"/>
              </a:ext>
            </a:extLst>
          </p:cNvPr>
          <p:cNvSpPr>
            <a:spLocks noGrp="1"/>
          </p:cNvSpPr>
          <p:nvPr/>
        </p:nvSpPr>
        <p:spPr>
          <a:xfrm>
            <a:off x="5095875" y="2571750"/>
            <a:ext cx="166687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0.08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510D52-D839-46D6-9F79-B53F5502D70C}"/>
              </a:ext>
            </a:extLst>
          </p:cNvPr>
          <p:cNvSpPr>
            <a:spLocks noGrp="1"/>
          </p:cNvSpPr>
          <p:nvPr/>
        </p:nvSpPr>
        <p:spPr>
          <a:xfrm>
            <a:off x="6762750" y="2571750"/>
            <a:ext cx="1524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0.150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735F1B-C2C5-45E4-BB00-EAC250EDC01C}"/>
              </a:ext>
            </a:extLst>
          </p:cNvPr>
          <p:cNvSpPr>
            <a:spLocks noGrp="1"/>
          </p:cNvSpPr>
          <p:nvPr/>
        </p:nvSpPr>
        <p:spPr>
          <a:xfrm>
            <a:off x="8286750" y="2571750"/>
            <a:ext cx="328612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5B2B"/>
                </a:solidFill>
                <a:latin typeface="Arial"/>
                <a:ea typeface="Arial"/>
                <a:cs typeface="Arial"/>
              </a:rPr>
              <a:t>Record multimodal low risk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14753C-0326-4189-A335-52DFCBDBF29F}"/>
              </a:ext>
            </a:extLst>
          </p:cNvPr>
          <p:cNvSpPr>
            <a:spLocks noGrp="1"/>
          </p:cNvSpPr>
          <p:nvPr/>
        </p:nvSpPr>
        <p:spPr>
          <a:xfrm>
            <a:off x="1095375" y="36480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167" lnSpcReduction="20000"/>
          </a:bodyPr>
          <a:lstStyle/>
          <a:p>
            <a:pPr algn="ctr">
              <a:defRPr sz="1500" b="1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34A"/>
                </a:solidFill>
                <a:latin typeface="Arial"/>
                <a:ea typeface="Arial"/>
                <a:cs typeface="Arial"/>
              </a:rPr>
              <a:t>requests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0DC0FA-9955-471B-B361-A4E82E592ABA}"/>
              </a:ext>
            </a:extLst>
          </p:cNvPr>
          <p:cNvSpPr>
            <a:spLocks noGrp="1"/>
          </p:cNvSpPr>
          <p:nvPr/>
        </p:nvSpPr>
        <p:spPr>
          <a:xfrm>
            <a:off x="904875" y="4057650"/>
            <a:ext cx="4552950" cy="1066800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The controlled run made an HTTPS request. Network activity is expected for an HTTP client, so the policy routes the case to review rather than blocking it.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1E183E-D2AF-46ED-BFA9-1B4E20F7F8B6}"/>
              </a:ext>
            </a:extLst>
          </p:cNvPr>
          <p:cNvSpPr>
            <a:spLocks noGrp="1"/>
          </p:cNvSpPr>
          <p:nvPr/>
        </p:nvSpPr>
        <p:spPr>
          <a:xfrm>
            <a:off x="7096125" y="36480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167" lnSpcReduction="20000"/>
          </a:bodyPr>
          <a:lstStyle/>
          <a:p>
            <a:pPr algn="ctr">
              <a:defRPr sz="1500" b="1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34A"/>
                </a:solidFill>
                <a:latin typeface="Arial"/>
                <a:ea typeface="Arial"/>
                <a:cs typeface="Arial"/>
              </a:rPr>
              <a:t>lodash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58112C-B0DD-45E4-BEE8-86276CD41B55}"/>
              </a:ext>
            </a:extLst>
          </p:cNvPr>
          <p:cNvSpPr>
            <a:spLocks noGrp="1"/>
          </p:cNvSpPr>
          <p:nvPr/>
        </p:nvSpPr>
        <p:spPr>
          <a:xfrm>
            <a:off x="6724650" y="4057650"/>
            <a:ext cx="4552950" cy="1066800"/>
          </a:xfrm>
          <a:prstGeom prst="rect">
            <a:avLst/>
          </a:prstGeom>
          <a:solidFill>
            <a:srgbClr val="EEF5F8"/>
          </a:solidFill>
          <a:ln w="9525">
            <a:solidFill>
              <a:srgbClr val="D1DEE6"/>
            </a:solidFill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 configured high-risk behavior appeared in the imported trace. The policy records low risk while keeping evidence and trace limits visible.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9869023-A024-4910-AAC5-6BEED4338B00}"/>
              </a:ext>
            </a:extLst>
          </p:cNvPr>
          <p:cNvSpPr>
            <a:spLocks noGrp="1"/>
          </p:cNvSpPr>
          <p:nvPr/>
        </p:nvSpPr>
        <p:spPr>
          <a:xfrm>
            <a:off x="1123950" y="5591175"/>
            <a:ext cx="99441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5B2B"/>
                </a:solidFill>
                <a:latin typeface="Arial"/>
                <a:ea typeface="Arial"/>
                <a:cs typeface="Arial"/>
              </a:rPr>
              <a:t>Qwen 2.5 1.5B provided evidence-grounded reviewer text only. It does not determine the final label or overrule human review.</a:t>
            </a:r>
          </a:p>
        </p:txBody>
      </p:sp>
    </p:spTree>
    <p:extLst>
      <p:ext uri="{BB962C8B-B14F-4D97-AF65-F5344CB8AC3E}">
        <p14:creationId xmlns:p14="http://schemas.microsoft.com/office/powerpoint/2010/main" val="218331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3388CC1-3513-4E7F-A7E7-22CD51E16B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2334A"/>
          </a:solidFill>
          <a:ln w="0">
            <a:noFill/>
          </a:ln>
        </p:spPr>
        <p:txBody>
          <a:bodyPr anchor="ctr">
            <a:normAutofit fontScale="32500" lnSpcReduction="20000"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9718CD-CE92-4460-A29E-0B71AE136291}"/>
              </a:ext>
            </a:extLst>
          </p:cNvPr>
          <p:cNvSpPr>
            <a:spLocks noGrp="1"/>
          </p:cNvSpPr>
          <p:nvPr/>
        </p:nvSpPr>
        <p:spPr>
          <a:xfrm>
            <a:off x="704850" y="409575"/>
            <a:ext cx="9906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597" lnSpcReduction="10000"/>
          </a:bodyPr>
          <a:lstStyle/>
          <a:p>
            <a:pPr algn="l">
              <a:defRPr sz="2325" b="1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34A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0E8672-3FB0-4E80-B238-19E5493AD255}"/>
              </a:ext>
            </a:extLst>
          </p:cNvPr>
          <p:cNvSpPr>
            <a:spLocks noGrp="1"/>
          </p:cNvSpPr>
          <p:nvPr/>
        </p:nvSpPr>
        <p:spPr>
          <a:xfrm>
            <a:off x="723900" y="866775"/>
            <a:ext cx="98583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974"/>
                </a:solidFill>
                <a:latin typeface="Arial"/>
                <a:ea typeface="Arial"/>
                <a:cs typeface="Arial"/>
              </a:rPr>
              <a:t>The prototype preserves uncertainty instead of presenting deployment-level claims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90235F-4FCA-44E4-A1CA-1A4D5C4B49B3}"/>
              </a:ext>
            </a:extLst>
          </p:cNvPr>
          <p:cNvSpPr>
            <a:spLocks noGrp="1"/>
          </p:cNvSpPr>
          <p:nvPr/>
        </p:nvSpPr>
        <p:spPr>
          <a:xfrm>
            <a:off x="10896600" y="457200"/>
            <a:ext cx="6096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917" lnSpcReduction="10000"/>
          </a:bodyPr>
          <a:lstStyle/>
          <a:p>
            <a:pPr algn="r">
              <a:defRPr sz="1200" b="1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74A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568DF1-B956-486C-A4A4-F33EB8D1B641}"/>
              </a:ext>
            </a:extLst>
          </p:cNvPr>
          <p:cNvSpPr>
            <a:spLocks noGrp="1"/>
          </p:cNvSpPr>
          <p:nvPr/>
        </p:nvSpPr>
        <p:spPr>
          <a:xfrm>
            <a:off x="704850" y="6477000"/>
            <a:ext cx="6858000" cy="142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2500" lnSpcReduction="20000"/>
          </a:bodyPr>
          <a:lstStyle/>
          <a:p>
            <a:pPr algn="l">
              <a:defRPr sz="750" b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AI-Based Detection of Malicious Open-Source Packages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3B7865-1F93-413D-B264-B93C84C8A0AA}"/>
              </a:ext>
            </a:extLst>
          </p:cNvPr>
          <p:cNvSpPr>
            <a:spLocks noGrp="1"/>
          </p:cNvSpPr>
          <p:nvPr/>
        </p:nvSpPr>
        <p:spPr>
          <a:xfrm>
            <a:off x="771525" y="1381125"/>
            <a:ext cx="26193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 lnSpcReduction="10000"/>
          </a:bodyPr>
          <a:lstStyle/>
          <a:p>
            <a:pPr algn="l">
              <a:defRPr sz="1350" b="1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34A"/>
                </a:solidFill>
                <a:latin typeface="Arial"/>
                <a:ea typeface="Arial"/>
                <a:cs typeface="Arial"/>
              </a:rPr>
              <a:t>Small dynamic sample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1AB4DF-7E5F-4C3E-8997-4DB24534A0CE}"/>
              </a:ext>
            </a:extLst>
          </p:cNvPr>
          <p:cNvSpPr>
            <a:spLocks noGrp="1"/>
          </p:cNvSpPr>
          <p:nvPr/>
        </p:nvSpPr>
        <p:spPr>
          <a:xfrm>
            <a:off x="3571875" y="1343025"/>
            <a:ext cx="7239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Only two known benign packages have imported trace evidence. The project cannot claim malicious-package dynamic detection accuracy.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628ED0-F0CC-4B2A-A047-AFD4A96C835C}"/>
              </a:ext>
            </a:extLst>
          </p:cNvPr>
          <p:cNvSpPr>
            <a:spLocks noGrp="1"/>
          </p:cNvSpPr>
          <p:nvPr/>
        </p:nvSpPr>
        <p:spPr>
          <a:xfrm>
            <a:off x="771525" y="2266950"/>
            <a:ext cx="26193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44"/>
          </a:bodyPr>
          <a:lstStyle/>
          <a:p>
            <a:pPr algn="l">
              <a:defRPr sz="1350" b="1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34A"/>
                </a:solidFill>
                <a:latin typeface="Arial"/>
                <a:ea typeface="Arial"/>
                <a:cs typeface="Arial"/>
              </a:rPr>
              <a:t>Incomplete execution coverage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2D5D91-EA93-447D-A6F7-1801722C7206}"/>
              </a:ext>
            </a:extLst>
          </p:cNvPr>
          <p:cNvSpPr>
            <a:spLocks noGrp="1"/>
          </p:cNvSpPr>
          <p:nvPr/>
        </p:nvSpPr>
        <p:spPr>
          <a:xfrm>
            <a:off x="3571875" y="2228850"/>
            <a:ext cx="7239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 trace may miss delayed, environment-dependent, dependency-driven, or untested behavior.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E010DD-7E38-4453-A75B-09867434CA87}"/>
              </a:ext>
            </a:extLst>
          </p:cNvPr>
          <p:cNvSpPr>
            <a:spLocks noGrp="1"/>
          </p:cNvSpPr>
          <p:nvPr/>
        </p:nvSpPr>
        <p:spPr>
          <a:xfrm>
            <a:off x="771525" y="3152775"/>
            <a:ext cx="26193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44"/>
          </a:bodyPr>
          <a:lstStyle/>
          <a:p>
            <a:pPr algn="l">
              <a:defRPr sz="1350" b="1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34A"/>
                </a:solidFill>
                <a:latin typeface="Arial"/>
                <a:ea typeface="Arial"/>
                <a:cs typeface="Arial"/>
              </a:rPr>
              <a:t>Heuristic source false positives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4357C8-4966-4ED1-B1A9-F784F3605596}"/>
              </a:ext>
            </a:extLst>
          </p:cNvPr>
          <p:cNvSpPr>
            <a:spLocks noGrp="1"/>
          </p:cNvSpPr>
          <p:nvPr/>
        </p:nvSpPr>
        <p:spPr>
          <a:xfrm>
            <a:off x="3571875" y="3114675"/>
            <a:ext cx="7239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Legitimate network, packaging, and compatibility code can trigger read-only source scanner rules.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26AE73-46C6-402C-A5FD-AE2DED48EDF8}"/>
              </a:ext>
            </a:extLst>
          </p:cNvPr>
          <p:cNvSpPr>
            <a:spLocks noGrp="1"/>
          </p:cNvSpPr>
          <p:nvPr/>
        </p:nvSpPr>
        <p:spPr>
          <a:xfrm>
            <a:off x="771525" y="4038600"/>
            <a:ext cx="26193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 lnSpcReduction="10000"/>
          </a:bodyPr>
          <a:lstStyle/>
          <a:p>
            <a:pPr algn="l">
              <a:defRPr sz="1350" b="1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34A"/>
                </a:solidFill>
                <a:latin typeface="Arial"/>
                <a:ea typeface="Arial"/>
                <a:cs typeface="Arial"/>
              </a:rPr>
              <a:t>LLM reliability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5B489A-DA70-441C-A9B9-68C5007EC259}"/>
              </a:ext>
            </a:extLst>
          </p:cNvPr>
          <p:cNvSpPr>
            <a:spLocks noGrp="1"/>
          </p:cNvSpPr>
          <p:nvPr/>
        </p:nvSpPr>
        <p:spPr>
          <a:xfrm>
            <a:off x="3571875" y="4000500"/>
            <a:ext cx="7239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The LLM output has no measured accuracy. Its conservative lodash review shows why it cannot override the triage policy.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507202-5497-4557-9738-66AB81B0671B}"/>
              </a:ext>
            </a:extLst>
          </p:cNvPr>
          <p:cNvSpPr>
            <a:spLocks noGrp="1"/>
          </p:cNvSpPr>
          <p:nvPr/>
        </p:nvSpPr>
        <p:spPr>
          <a:xfrm>
            <a:off x="771525" y="4924425"/>
            <a:ext cx="26193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 lnSpcReduction="10000"/>
          </a:bodyPr>
          <a:lstStyle/>
          <a:p>
            <a:pPr algn="l">
              <a:defRPr sz="1350" b="1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34A"/>
                </a:solidFill>
                <a:latin typeface="Arial"/>
                <a:ea typeface="Arial"/>
                <a:cs typeface="Arial"/>
              </a:rPr>
              <a:t>Label-efficiency results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B0ABC8-5CAA-41C6-84DC-9C664A5812E0}"/>
              </a:ext>
            </a:extLst>
          </p:cNvPr>
          <p:cNvSpPr>
            <a:spLocks noGrp="1"/>
          </p:cNvSpPr>
          <p:nvPr/>
        </p:nvSpPr>
        <p:spPr>
          <a:xfrm>
            <a:off x="3571875" y="4886325"/>
            <a:ext cx="7239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The code is included, but the inspected project folder needs saved CSV and JSON outputs before reporting new label-budget numbers.</a:t>
            </a:r>
          </a:p>
        </p:txBody>
      </p:sp>
    </p:spTree>
    <p:extLst>
      <p:ext uri="{BB962C8B-B14F-4D97-AF65-F5344CB8AC3E}">
        <p14:creationId xmlns:p14="http://schemas.microsoft.com/office/powerpoint/2010/main" val="819718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4C1E5AA-8D20-45E0-866D-0A9C457255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2334A"/>
          </a:solidFill>
          <a:ln w="0">
            <a:noFill/>
          </a:ln>
        </p:spPr>
        <p:txBody>
          <a:bodyPr anchor="ctr">
            <a:normAutofit fontScale="32500" lnSpcReduction="20000"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4C7239-A282-49EA-9033-5C73E142BA7D}"/>
              </a:ext>
            </a:extLst>
          </p:cNvPr>
          <p:cNvSpPr>
            <a:spLocks noGrp="1"/>
          </p:cNvSpPr>
          <p:nvPr/>
        </p:nvSpPr>
        <p:spPr>
          <a:xfrm>
            <a:off x="704850" y="409575"/>
            <a:ext cx="9906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597" lnSpcReduction="10000"/>
          </a:bodyPr>
          <a:lstStyle/>
          <a:p>
            <a:pPr algn="l">
              <a:defRPr sz="2325" b="1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34A"/>
                </a:solidFill>
                <a:latin typeface="Arial"/>
                <a:ea typeface="Arial"/>
                <a:cs typeface="Arial"/>
              </a:rPr>
              <a:t>Scope of Improvements Within Two Weeks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6F855B-15D3-4839-BFDD-1DB20D0B2C3C}"/>
              </a:ext>
            </a:extLst>
          </p:cNvPr>
          <p:cNvSpPr>
            <a:spLocks noGrp="1"/>
          </p:cNvSpPr>
          <p:nvPr/>
        </p:nvSpPr>
        <p:spPr>
          <a:xfrm>
            <a:off x="723900" y="866775"/>
            <a:ext cx="98583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974"/>
                </a:solidFill>
                <a:latin typeface="Arial"/>
                <a:ea typeface="Arial"/>
                <a:cs typeface="Arial"/>
              </a:rPr>
              <a:t>The next iteration broadens evidence coverage and strengthens evaluation discipline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8DD833-1F31-4287-A04E-E633F82615D1}"/>
              </a:ext>
            </a:extLst>
          </p:cNvPr>
          <p:cNvSpPr>
            <a:spLocks noGrp="1"/>
          </p:cNvSpPr>
          <p:nvPr/>
        </p:nvSpPr>
        <p:spPr>
          <a:xfrm>
            <a:off x="10896600" y="457200"/>
            <a:ext cx="6096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917" lnSpcReduction="10000"/>
          </a:bodyPr>
          <a:lstStyle/>
          <a:p>
            <a:pPr algn="r">
              <a:defRPr sz="1200" b="1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74A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452FC5-E121-4533-8E07-71EA6B11C0CE}"/>
              </a:ext>
            </a:extLst>
          </p:cNvPr>
          <p:cNvSpPr>
            <a:spLocks noGrp="1"/>
          </p:cNvSpPr>
          <p:nvPr/>
        </p:nvSpPr>
        <p:spPr>
          <a:xfrm>
            <a:off x="704850" y="6477000"/>
            <a:ext cx="6858000" cy="142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2500" lnSpcReduction="20000"/>
          </a:bodyPr>
          <a:lstStyle/>
          <a:p>
            <a:pPr algn="l">
              <a:defRPr sz="750" b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AI-Based Detection of Malicious Open-Source Packages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B6DBF3-D292-45F6-9BEE-7ECC22E592A9}"/>
              </a:ext>
            </a:extLst>
          </p:cNvPr>
          <p:cNvSpPr>
            <a:spLocks noGrp="1"/>
          </p:cNvSpPr>
          <p:nvPr/>
        </p:nvSpPr>
        <p:spPr>
          <a:xfrm>
            <a:off x="790575" y="1447800"/>
            <a:ext cx="1790700" cy="447675"/>
          </a:xfrm>
          <a:prstGeom prst="rect">
            <a:avLst/>
          </a:prstGeom>
          <a:solidFill>
            <a:srgbClr val="2774AE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Days 1 to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7A93EF-F90A-4FEF-AD2B-14092DA8E2F5}"/>
              </a:ext>
            </a:extLst>
          </p:cNvPr>
          <p:cNvSpPr>
            <a:spLocks noGrp="1"/>
          </p:cNvSpPr>
          <p:nvPr/>
        </p:nvSpPr>
        <p:spPr>
          <a:xfrm>
            <a:off x="3000375" y="1419225"/>
            <a:ext cx="766762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Run the included target-label experiment in both transfer directions. Save raw per-seed CSV, aggregate table, and JSON summary.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0B5FF3-21D5-4668-9B95-B83DAE8AADEA}"/>
              </a:ext>
            </a:extLst>
          </p:cNvPr>
          <p:cNvSpPr>
            <a:spLocks noGrp="1"/>
          </p:cNvSpPr>
          <p:nvPr/>
        </p:nvSpPr>
        <p:spPr>
          <a:xfrm>
            <a:off x="790575" y="2505075"/>
            <a:ext cx="1790700" cy="447675"/>
          </a:xfrm>
          <a:prstGeom prst="rect">
            <a:avLst/>
          </a:prstGeom>
          <a:solidFill>
            <a:srgbClr val="2E8B86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Days 4 to 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A4E4A5-B6C4-458F-81E3-4D41350E6B74}"/>
              </a:ext>
            </a:extLst>
          </p:cNvPr>
          <p:cNvSpPr>
            <a:spLocks noGrp="1"/>
          </p:cNvSpPr>
          <p:nvPr/>
        </p:nvSpPr>
        <p:spPr>
          <a:xfrm>
            <a:off x="3000375" y="2476500"/>
            <a:ext cx="766762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Collect version-pinned traces for at least ten known benign npm and PyPI packages inside the isolated VM. Record duration and environment.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C6B28E-52D0-449D-8270-AF7EC091E64E}"/>
              </a:ext>
            </a:extLst>
          </p:cNvPr>
          <p:cNvSpPr>
            <a:spLocks noGrp="1"/>
          </p:cNvSpPr>
          <p:nvPr/>
        </p:nvSpPr>
        <p:spPr>
          <a:xfrm>
            <a:off x="790575" y="3562350"/>
            <a:ext cx="1790700" cy="447675"/>
          </a:xfrm>
          <a:prstGeom prst="rect">
            <a:avLst/>
          </a:prstGeom>
          <a:solidFill>
            <a:srgbClr val="2774AE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Days 8 to 10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51E359-BFAD-4255-BD01-416D78440A95}"/>
              </a:ext>
            </a:extLst>
          </p:cNvPr>
          <p:cNvSpPr>
            <a:spLocks noGrp="1"/>
          </p:cNvSpPr>
          <p:nvPr/>
        </p:nvSpPr>
        <p:spPr>
          <a:xfrm>
            <a:off x="3000375" y="3533775"/>
            <a:ext cx="766762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Add trace-derived counts for processes, outbound connections, sensitive-path access, and install hooks. Compare static-only and fused actions.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DD69FF-E11C-43DC-A441-175E0D9F114E}"/>
              </a:ext>
            </a:extLst>
          </p:cNvPr>
          <p:cNvSpPr>
            <a:spLocks noGrp="1"/>
          </p:cNvSpPr>
          <p:nvPr/>
        </p:nvSpPr>
        <p:spPr>
          <a:xfrm>
            <a:off x="790575" y="4619625"/>
            <a:ext cx="1790700" cy="447675"/>
          </a:xfrm>
          <a:prstGeom prst="rect">
            <a:avLst/>
          </a:prstGeom>
          <a:solidFill>
            <a:srgbClr val="2774AE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Days 11 to 14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890B1C-41C5-4E27-93DF-B36297FB0ABD}"/>
              </a:ext>
            </a:extLst>
          </p:cNvPr>
          <p:cNvSpPr>
            <a:spLocks noGrp="1"/>
          </p:cNvSpPr>
          <p:nvPr/>
        </p:nvSpPr>
        <p:spPr>
          <a:xfrm>
            <a:off x="3000375" y="4591050"/>
            <a:ext cx="766762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Report referral rate, missing-trace rate, and modality disagreement by ecosystem. Manually check LLM citations against each evidence report.</a:t>
            </a:r>
          </a:p>
        </p:txBody>
      </p:sp>
    </p:spTree>
    <p:extLst>
      <p:ext uri="{BB962C8B-B14F-4D97-AF65-F5344CB8AC3E}">
        <p14:creationId xmlns:p14="http://schemas.microsoft.com/office/powerpoint/2010/main" val="1483870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8CD0560-17E7-43EC-AAB7-99D6BA43B1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2334A"/>
          </a:solidFill>
          <a:ln w="0">
            <a:noFill/>
          </a:ln>
        </p:spPr>
        <p:txBody>
          <a:bodyPr anchor="ctr">
            <a:normAutofit fontScale="32500" lnSpcReduction="20000"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5AF7AE-2782-4348-8B01-C43AF2460FEA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1000125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Source Code and Colab Access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0974C4-D1DF-4063-A804-127FA62C0237}"/>
              </a:ext>
            </a:extLst>
          </p:cNvPr>
          <p:cNvSpPr>
            <a:spLocks noGrp="1"/>
          </p:cNvSpPr>
          <p:nvPr/>
        </p:nvSpPr>
        <p:spPr>
          <a:xfrm>
            <a:off x="704850" y="895350"/>
            <a:ext cx="9906000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The submission contains the runnable code and the all-in-one Colab bundle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545EB6-CEBB-4CDC-A9FB-0789CA437C07}"/>
              </a:ext>
            </a:extLst>
          </p:cNvPr>
          <p:cNvSpPr>
            <a:spLocks noGrp="1"/>
          </p:cNvSpPr>
          <p:nvPr/>
        </p:nvSpPr>
        <p:spPr>
          <a:xfrm>
            <a:off x="10896600" y="447675"/>
            <a:ext cx="6096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095067-E3CA-490B-B25E-9CB8F7152C7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6953250" cy="161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9167" lnSpcReduction="20000"/>
          </a:bodyPr>
          <a:lstStyle/>
          <a:p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 Based Detection of Malicious Open Source Packages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EED3E9-2B45-4027-AECA-2CE281494C28}"/>
              </a:ext>
            </a:extLst>
          </p:cNvPr>
          <p:cNvSpPr>
            <a:spLocks noGrp="1"/>
          </p:cNvSpPr>
          <p:nvPr/>
        </p:nvSpPr>
        <p:spPr>
          <a:xfrm>
            <a:off x="838200" y="146685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48" lnSpcReduction="10000"/>
          </a:bodyPr>
          <a:lstStyle/>
          <a:p>
            <a:pPr algn="l">
              <a:defRPr sz="16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Included source code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EC26C5-E587-4C44-9BA1-B491AD1BDC11}"/>
              </a:ext>
            </a:extLst>
          </p:cNvPr>
          <p:cNvSpPr>
            <a:spLocks noGrp="1"/>
          </p:cNvSpPr>
          <p:nvPr/>
        </p:nvSpPr>
        <p:spPr>
          <a:xfrm>
            <a:off x="838200" y="2009775"/>
            <a:ext cx="7715250" cy="2286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228600" indent="-101600" algn="l">
              <a:spcAft>
                <a:spcPts val="900"/>
              </a:spcAft>
              <a:buChar char="•"/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lang="en-US" sz="1350" b="0" i="0" dirty="0">
                <a:solidFill>
                  <a:srgbClr val="17212B"/>
                </a:solidFill>
                <a:latin typeface="Arial"/>
                <a:ea typeface="Arial"/>
                <a:cs typeface="Arial"/>
                <a:hlinkClick r:id="rId3"/>
              </a:rPr>
              <a:t>https://colab.research.google.com/drive/1ObWtipmWAnEzEAdPi1rndvd6gZ-6F6ve?usp=sharing</a:t>
            </a:r>
            <a:endParaRPr lang="en-US" sz="1350" b="0" i="0" dirty="0">
              <a:solidFill>
                <a:srgbClr val="17212B"/>
              </a:solidFill>
              <a:latin typeface="Arial"/>
              <a:ea typeface="Arial"/>
              <a:cs typeface="Arial"/>
            </a:endParaRPr>
          </a:p>
          <a:p>
            <a:pPr marL="228600" indent="-101600" algn="l">
              <a:spcAft>
                <a:spcPts val="900"/>
              </a:spcAft>
              <a:buChar char="•"/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lang="en-US" sz="1350" b="0" i="0" dirty="0">
                <a:solidFill>
                  <a:srgbClr val="17212B"/>
                </a:solidFill>
                <a:latin typeface="Arial"/>
                <a:ea typeface="Arial"/>
                <a:cs typeface="Arial"/>
                <a:hlinkClick r:id="rId4"/>
              </a:rPr>
              <a:t>https://colab.research.google.com/drive/1QOomTzbfqRcaNyQJcB3TXh4dF9bcPxPE?usp=sharing</a:t>
            </a:r>
            <a:endParaRPr lang="en-US" sz="1350" b="0" i="0" dirty="0">
              <a:solidFill>
                <a:srgbClr val="17212B"/>
              </a:solidFill>
              <a:latin typeface="Arial"/>
              <a:ea typeface="Arial"/>
              <a:cs typeface="Arial"/>
            </a:endParaRPr>
          </a:p>
          <a:p>
            <a:pPr marL="228600" indent="-101600" algn="l">
              <a:spcAft>
                <a:spcPts val="900"/>
              </a:spcAft>
              <a:buChar char="•"/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lang="en-US"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https://colab.research.google.com/drive/1K4pX4hkmcz3Tbrx5idJhvBrPBXU16QEh?usp=sharing</a:t>
            </a:r>
            <a:endParaRPr lang="en-US" sz="1350" b="0" i="0" dirty="0">
              <a:solidFill>
                <a:srgbClr val="17212B"/>
              </a:solidFill>
              <a:latin typeface="Arial"/>
              <a:ea typeface="Arial"/>
              <a:cs typeface="Arial"/>
            </a:endParaRPr>
          </a:p>
          <a:p>
            <a:pPr marL="228600" indent="-101600" algn="l">
              <a:spcAft>
                <a:spcPts val="900"/>
              </a:spcAft>
              <a:buChar char="•"/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lang="en-US" sz="1350" b="0" i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https://github.com/shihab4513/CS_Project.git</a:t>
            </a:r>
            <a:endParaRPr sz="1350" b="0" i="0" dirty="0">
              <a:solidFill>
                <a:srgbClr val="17212B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156173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1388</Words>
  <Application>Microsoft Office PowerPoint</Application>
  <DocSecurity>0</DocSecurity>
  <PresentationFormat>Widescreen</PresentationFormat>
  <Paragraphs>191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Shihab Uddin</cp:lastModifiedBy>
  <cp:revision>2</cp:revision>
  <dcterms:created xsi:type="dcterms:W3CDTF">2026-09-21T20:26:18Z</dcterms:created>
  <dcterms:modified xsi:type="dcterms:W3CDTF">2026-09-21T20:32:35Z</dcterms:modified>
</cp:coreProperties>
</file>